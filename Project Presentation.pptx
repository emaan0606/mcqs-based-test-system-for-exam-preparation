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sldIdLst>
    <p:sldId id="256" r:id="rId3"/>
    <p:sldId id="257" r:id="rId4"/>
    <p:sldId id="258" r:id="rId5"/>
    <p:sldId id="259" r:id="rId6"/>
    <p:sldId id="262" r:id="rId7"/>
    <p:sldId id="263" r:id="rId9"/>
    <p:sldId id="261" r:id="rId10"/>
    <p:sldId id="260" r:id="rId11"/>
    <p:sldId id="266" r:id="rId12"/>
    <p:sldId id="292" r:id="rId13"/>
    <p:sldId id="265" r:id="rId14"/>
    <p:sldId id="264" r:id="rId15"/>
    <p:sldId id="291" r:id="rId16"/>
    <p:sldId id="268" r:id="rId17"/>
    <p:sldId id="271" r:id="rId18"/>
    <p:sldId id="272" r:id="rId19"/>
    <p:sldId id="273" r:id="rId20"/>
    <p:sldId id="275" r:id="rId21"/>
    <p:sldId id="274" r:id="rId22"/>
    <p:sldId id="277" r:id="rId23"/>
    <p:sldId id="279" r:id="rId24"/>
    <p:sldId id="280" r:id="rId25"/>
    <p:sldId id="281" r:id="rId26"/>
    <p:sldId id="283" r:id="rId27"/>
    <p:sldId id="284" r:id="rId28"/>
    <p:sldId id="285" r:id="rId29"/>
    <p:sldId id="286" r:id="rId30"/>
    <p:sldId id="289" r:id="rId31"/>
    <p:sldId id="287" r:id="rId32"/>
    <p:sldId id="288" r:id="rId33"/>
    <p:sldId id="293" r:id="rId34"/>
    <p:sldId id="295" r:id="rId35"/>
    <p:sldId id="296" r:id="rId36"/>
    <p:sldId id="294" r:id="rId37"/>
    <p:sldId id="282" r:id="rId38"/>
    <p:sldId id="290" r:id="rId3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0BC00"/>
    <a:srgbClr val="C2CEB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>
      <p:cViewPr varScale="1">
        <p:scale>
          <a:sx n="53" d="100"/>
          <a:sy n="53" d="100"/>
        </p:scale>
        <p:origin x="18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2" Type="http://schemas.openxmlformats.org/officeDocument/2006/relationships/tableStyles" Target="tableStyles.xml"/><Relationship Id="rId41" Type="http://schemas.openxmlformats.org/officeDocument/2006/relationships/viewProps" Target="viewProps.xml"/><Relationship Id="rId40" Type="http://schemas.openxmlformats.org/officeDocument/2006/relationships/presProps" Target="presProps.xml"/><Relationship Id="rId4" Type="http://schemas.openxmlformats.org/officeDocument/2006/relationships/slide" Target="slides/slide2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GB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GB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208933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51" name="Rectangle 3"/>
          <p:cNvSpPr>
            <a:spLocks noGrp="1" noChangeArrowheads="1"/>
          </p:cNvSpPr>
          <p:nvPr>
            <p:ph type="ctrTitle"/>
          </p:nvPr>
        </p:nvSpPr>
        <p:spPr>
          <a:xfrm>
            <a:off x="624417" y="1196975"/>
            <a:ext cx="10943167" cy="1082675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zh-CN" noProof="0" smtClean="0"/>
              <a:t>Click to edit Master title style</a:t>
            </a:r>
            <a:endParaRPr lang="en-US" altLang="zh-CN" noProof="0" smtClean="0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626533" y="2422525"/>
            <a:ext cx="10949517" cy="1752600"/>
          </a:xfrm>
        </p:spPr>
        <p:txBody>
          <a:bodyPr/>
          <a:lstStyle>
            <a:lvl1pPr marL="0" indent="0" algn="ctr">
              <a:buFontTx/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zh-CN" noProof="0" smtClean="0"/>
              <a:t>Click to edit Master subtitle style</a:t>
            </a:r>
            <a:endParaRPr lang="en-US" altLang="zh-CN" noProof="0" smtClean="0"/>
          </a:p>
        </p:txBody>
      </p:sp>
      <p:sp>
        <p:nvSpPr>
          <p:cNvPr id="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1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1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3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174750"/>
            <a:ext cx="53848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174750"/>
            <a:ext cx="53848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7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7" y="2505075"/>
            <a:ext cx="5158316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5"/>
            <a:ext cx="617220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190500"/>
            <a:ext cx="2743200" cy="593725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90500"/>
            <a:ext cx="8026400" cy="59372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image" Target="../media/image2.jpeg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026" name="Picture 9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0" y="0"/>
            <a:ext cx="12208933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7" name="Rectangle 3"/>
          <p:cNvSpPr>
            <a:spLocks noGrp="1"/>
          </p:cNvSpPr>
          <p:nvPr>
            <p:ph type="title"/>
          </p:nvPr>
        </p:nvSpPr>
        <p:spPr>
          <a:xfrm>
            <a:off x="609600" y="190500"/>
            <a:ext cx="10972800" cy="58261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en-US" altLang="zh-CN" dirty="0"/>
              <a:t>Click to edit Master title style</a:t>
            </a:r>
            <a:endParaRPr lang="en-US" altLang="zh-CN" dirty="0"/>
          </a:p>
        </p:txBody>
      </p:sp>
      <p:sp>
        <p:nvSpPr>
          <p:cNvPr id="1028" name="Rectangle 4"/>
          <p:cNvSpPr>
            <a:spLocks noGrp="1"/>
          </p:cNvSpPr>
          <p:nvPr>
            <p:ph type="body" idx="1"/>
          </p:nvPr>
        </p:nvSpPr>
        <p:spPr>
          <a:xfrm>
            <a:off x="609600" y="1174750"/>
            <a:ext cx="10972800" cy="49530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en-US" altLang="zh-CN" dirty="0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l" rtl="0" fontAlgn="base">
        <a:spcBef>
          <a:spcPct val="0"/>
        </a:spcBef>
        <a:spcAft>
          <a:spcPct val="0"/>
        </a:spcAft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2pPr>
      <a:lvl3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3pPr>
      <a:lvl4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4pPr>
      <a:lvl5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1" Type="http://schemas.openxmlformats.org/officeDocument/2006/relationships/image" Target="../media/image7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1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9.jpeg"/><Relationship Id="rId1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1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1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4.png"/><Relationship Id="rId1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1" Type="http://schemas.openxmlformats.org/officeDocument/2006/relationships/image" Target="../media/image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6.png"/><Relationship Id="rId1" Type="http://schemas.openxmlformats.org/officeDocument/2006/relationships/image" Target="../media/image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7.png"/><Relationship Id="rId1" Type="http://schemas.openxmlformats.org/officeDocument/2006/relationships/image" Target="../media/image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8.png"/><Relationship Id="rId1" Type="http://schemas.openxmlformats.org/officeDocument/2006/relationships/image" Target="../media/image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9.png"/><Relationship Id="rId1" Type="http://schemas.openxmlformats.org/officeDocument/2006/relationships/image" Target="../media/image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0.png"/><Relationship Id="rId1" Type="http://schemas.openxmlformats.org/officeDocument/2006/relationships/image" Target="../media/image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1.png"/><Relationship Id="rId1" Type="http://schemas.openxmlformats.org/officeDocument/2006/relationships/image" Target="../media/image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2.png"/><Relationship Id="rId1" Type="http://schemas.openxmlformats.org/officeDocument/2006/relationships/image" Target="../media/image5.png"/></Relationships>
</file>

<file path=ppt/slides/_rels/slide2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3.png"/><Relationship Id="rId1" Type="http://schemas.openxmlformats.org/officeDocument/2006/relationships/image" Target="../media/image5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4.png"/><Relationship Id="rId1" Type="http://schemas.openxmlformats.org/officeDocument/2006/relationships/image" Target="../media/image5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5.png"/><Relationship Id="rId1" Type="http://schemas.openxmlformats.org/officeDocument/2006/relationships/image" Target="../media/image5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6.png"/><Relationship Id="rId1" Type="http://schemas.openxmlformats.org/officeDocument/2006/relationships/image" Target="../media/image5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7.png"/><Relationship Id="rId1" Type="http://schemas.openxmlformats.org/officeDocument/2006/relationships/image" Target="../media/image5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8.png"/><Relationship Id="rId1" Type="http://schemas.openxmlformats.org/officeDocument/2006/relationships/image" Target="../media/image5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9.png"/><Relationship Id="rId1" Type="http://schemas.openxmlformats.org/officeDocument/2006/relationships/image" Target="../media/image5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0.png"/><Relationship Id="rId1" Type="http://schemas.openxmlformats.org/officeDocument/2006/relationships/image" Target="../media/image5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1.png"/><Relationship Id="rId1" Type="http://schemas.openxmlformats.org/officeDocument/2006/relationships/image" Target="../media/image5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2.png"/><Relationship Id="rId1" Type="http://schemas.openxmlformats.org/officeDocument/2006/relationships/image" Target="../media/image5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3.png"/><Relationship Id="rId1" Type="http://schemas.openxmlformats.org/officeDocument/2006/relationships/image" Target="../media/image5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image" Target="../media/image5.pn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1785620" y="2132330"/>
            <a:ext cx="7866380" cy="2429510"/>
          </a:xfrm>
          <a:effectLst>
            <a:glow rad="139700">
              <a:schemeClr val="accent2">
                <a:satMod val="175000"/>
                <a:alpha val="40000"/>
              </a:schemeClr>
            </a:glow>
            <a:innerShdw blurRad="63500" dist="50800" dir="18900000">
              <a:prstClr val="black">
                <a:alpha val="50000"/>
              </a:prstClr>
            </a:innerShdw>
          </a:effectLst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pPr algn="ctr"/>
            <a:r>
              <a:rPr lang="ar-AE" sz="7200" b="1" dirty="0">
                <a:effectLst/>
                <a:latin typeface="Arial Rounded MT Bold" panose="020F0704030504030204" pitchFamily="34" charset="0"/>
                <a:sym typeface="+mn-ea"/>
              </a:rPr>
              <a:t>بِسْمِ اللهِ الرَّحْمٰنِ </a:t>
            </a:r>
            <a:r>
              <a:rPr lang="ar-AE" sz="7200" b="1" dirty="0">
                <a:effectLst/>
                <a:latin typeface="Squada One" panose="02000000000000000000"/>
                <a:sym typeface="+mn-ea"/>
              </a:rPr>
              <a:t>الرَّحِيْمِ</a:t>
            </a:r>
            <a:endParaRPr lang="ar-AE" altLang="en-US" sz="7200" b="1" dirty="0">
              <a:effectLst/>
              <a:latin typeface="Squada One" panose="02000000000000000000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2925" y="612140"/>
            <a:ext cx="11039475" cy="1614805"/>
          </a:xfrm>
          <a:solidFill>
            <a:srgbClr val="C2CEBD"/>
          </a:solidFill>
          <a:ln>
            <a:solidFill>
              <a:schemeClr val="accent1"/>
            </a:solidFill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3">
            <a:schemeClr val="accent2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/>
          <a:p>
            <a:pPr algn="ctr"/>
            <a:r>
              <a:rPr lang="en-US" altLang="en-GB" sz="4000" b="1">
                <a:latin typeface="Times New Roman" panose="02020603050405020304" charset="0"/>
                <a:cs typeface="Times New Roman" panose="02020603050405020304" charset="0"/>
              </a:rPr>
              <a:t>“MCQ-Based Test System for Exam Preparation Using Python and Django”</a:t>
            </a:r>
            <a:endParaRPr lang="en-US" altLang="en-GB" sz="40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1501602841" name="Picture 3"/>
          <p:cNvPicPr>
            <a:picLocks noChangeAspect="1" noChangeArrowheads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373880" y="3294380"/>
            <a:ext cx="3376930" cy="2114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1167130" y="897890"/>
            <a:ext cx="8968105" cy="5061585"/>
          </a:xfrm>
          <a:prstGeom prst="roundRect">
            <a:avLst/>
          </a:prstGeom>
          <a:blipFill rotWithShape="1">
            <a:blip r:embed="rId1"/>
            <a:tile tx="0" ty="0" sx="100000" sy="100000" flip="none" algn="tl"/>
          </a:blipFill>
        </p:spPr>
        <p:txBody>
          <a:bodyPr/>
          <a:p>
            <a:pPr marL="0" indent="0" algn="ctr">
              <a:buNone/>
            </a:pPr>
            <a:endParaRPr lang="en-US" altLang="en-GB" b="1">
              <a:ln w="15875"/>
              <a:gradFill>
                <a:gsLst>
                  <a:gs pos="0">
                    <a:schemeClr val="accent1">
                      <a:lumOff val="-19990"/>
                      <a:satOff val="20000"/>
                    </a:schemeClr>
                  </a:gs>
                  <a:gs pos="100000">
                    <a:schemeClr val="accent1">
                      <a:lumOff val="15000"/>
                      <a:satOff val="-14990"/>
                    </a:schemeClr>
                  </a:gs>
                </a:gsLst>
                <a:lin ang="0" scaled="0"/>
              </a:gradFill>
              <a:effectLst/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marL="914400" lvl="2" indent="457200" algn="l">
              <a:buNone/>
            </a:pPr>
            <a:r>
              <a:rPr lang="en-US" altLang="en-GB" sz="3200" b="1">
                <a:ln w="15875"/>
                <a:gradFill>
                  <a:gsLst>
                    <a:gs pos="0">
                      <a:schemeClr val="accent1">
                        <a:lumOff val="-19990"/>
                        <a:satOff val="20000"/>
                      </a:schemeClr>
                    </a:gs>
                    <a:gs pos="100000">
                      <a:schemeClr val="accent1">
                        <a:lumOff val="15000"/>
                        <a:satOff val="-14990"/>
                      </a:schemeClr>
                    </a:gs>
                  </a:gsLst>
                  <a:lin ang="0" scaled="0"/>
                </a:gradFill>
                <a:effectLst/>
                <a:latin typeface="Times New Roman" panose="02020603050405020304" charset="0"/>
                <a:cs typeface="Times New Roman" panose="02020603050405020304" charset="0"/>
                <a:sym typeface="+mn-ea"/>
              </a:rPr>
              <a:t>Supervisor</a:t>
            </a:r>
            <a:br>
              <a:rPr lang="en-US" altLang="en-GB" sz="3200" b="1">
                <a:ln w="15875"/>
                <a:gradFill>
                  <a:gsLst>
                    <a:gs pos="0">
                      <a:schemeClr val="accent1">
                        <a:lumOff val="-19990"/>
                        <a:satOff val="20000"/>
                      </a:schemeClr>
                    </a:gs>
                    <a:gs pos="100000">
                      <a:schemeClr val="accent1">
                        <a:lumOff val="15000"/>
                        <a:satOff val="-14990"/>
                      </a:schemeClr>
                    </a:gs>
                  </a:gsLst>
                  <a:lin ang="0" scaled="0"/>
                </a:gradFill>
                <a:effectLst/>
                <a:latin typeface="Times New Roman" panose="02020603050405020304" charset="0"/>
                <a:cs typeface="Times New Roman" panose="02020603050405020304" charset="0"/>
                <a:sym typeface="+mn-ea"/>
              </a:rPr>
            </a:br>
            <a:r>
              <a:rPr lang="en-US" altLang="en-GB" sz="3200" b="1">
                <a:ln w="15875"/>
                <a:gradFill>
                  <a:gsLst>
                    <a:gs pos="0">
                      <a:schemeClr val="accent1">
                        <a:lumOff val="-19990"/>
                        <a:satOff val="20000"/>
                      </a:schemeClr>
                    </a:gs>
                    <a:gs pos="100000">
                      <a:schemeClr val="accent1">
                        <a:lumOff val="15000"/>
                        <a:satOff val="-14990"/>
                      </a:schemeClr>
                    </a:gs>
                  </a:gsLst>
                  <a:lin ang="0" scaled="0"/>
                </a:gradFill>
                <a:effectLst/>
                <a:latin typeface="Times New Roman" panose="02020603050405020304" charset="0"/>
                <a:cs typeface="Times New Roman" panose="02020603050405020304" charset="0"/>
                <a:sym typeface="+mn-ea"/>
              </a:rPr>
              <a:t>	</a:t>
            </a:r>
            <a:r>
              <a:rPr lang="en-US" altLang="en-GB" sz="32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“Muhammad Kaleem Ullah”</a:t>
            </a:r>
            <a:endParaRPr lang="en-US" altLang="en-GB" sz="3200" b="1">
              <a:ln w="15875"/>
              <a:gradFill>
                <a:gsLst>
                  <a:gs pos="0">
                    <a:schemeClr val="accent1">
                      <a:lumOff val="-19990"/>
                      <a:satOff val="20000"/>
                    </a:schemeClr>
                  </a:gs>
                  <a:gs pos="100000">
                    <a:schemeClr val="accent1">
                      <a:lumOff val="15000"/>
                      <a:satOff val="-14990"/>
                    </a:schemeClr>
                  </a:gs>
                </a:gsLst>
                <a:lin ang="0" scaled="0"/>
              </a:gradFill>
              <a:effectLst/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marL="914400" lvl="2" indent="457200" algn="l">
              <a:buNone/>
            </a:pPr>
            <a:endParaRPr lang="en-US" altLang="en-GB" sz="3200" b="1">
              <a:ln w="15875"/>
              <a:gradFill>
                <a:gsLst>
                  <a:gs pos="0">
                    <a:schemeClr val="accent1">
                      <a:lumOff val="-19990"/>
                      <a:satOff val="20000"/>
                    </a:schemeClr>
                  </a:gs>
                  <a:gs pos="100000">
                    <a:schemeClr val="accent1">
                      <a:lumOff val="15000"/>
                      <a:satOff val="-14990"/>
                    </a:schemeClr>
                  </a:gs>
                </a:gsLst>
                <a:lin ang="0" scaled="0"/>
              </a:gradFill>
              <a:effectLst/>
              <a:latin typeface="Times New Roman" panose="02020603050405020304" charset="0"/>
              <a:cs typeface="Times New Roman" panose="02020603050405020304" charset="0"/>
            </a:endParaRPr>
          </a:p>
          <a:p>
            <a:pPr marL="914400" lvl="2" indent="457200" algn="l">
              <a:buNone/>
            </a:pPr>
            <a:r>
              <a:rPr lang="en-US" altLang="en-GB" sz="3200" b="1">
                <a:ln w="15875"/>
                <a:gradFill>
                  <a:gsLst>
                    <a:gs pos="0">
                      <a:schemeClr val="accent1">
                        <a:lumOff val="-19990"/>
                        <a:satOff val="20000"/>
                      </a:schemeClr>
                    </a:gs>
                    <a:gs pos="100000">
                      <a:schemeClr val="accent1">
                        <a:lumOff val="15000"/>
                        <a:satOff val="-14990"/>
                      </a:schemeClr>
                    </a:gs>
                  </a:gsLst>
                  <a:lin ang="0" scaled="0"/>
                </a:gradFill>
                <a:effectLst/>
                <a:latin typeface="Times New Roman" panose="02020603050405020304" charset="0"/>
                <a:cs typeface="Times New Roman" panose="02020603050405020304" charset="0"/>
              </a:rPr>
              <a:t>Submitted By</a:t>
            </a:r>
            <a:endParaRPr lang="en-US" altLang="en-GB" b="1">
              <a:ln w="15875"/>
              <a:gradFill>
                <a:gsLst>
                  <a:gs pos="0">
                    <a:schemeClr val="accent1">
                      <a:lumOff val="-19990"/>
                      <a:satOff val="20000"/>
                    </a:schemeClr>
                  </a:gs>
                  <a:gs pos="100000">
                    <a:schemeClr val="accent1">
                      <a:lumOff val="15000"/>
                      <a:satOff val="-14990"/>
                    </a:schemeClr>
                  </a:gs>
                </a:gsLst>
                <a:lin ang="0" scaled="0"/>
              </a:gradFill>
              <a:effectLst/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 algn="ctr">
              <a:buNone/>
            </a:pPr>
            <a:r>
              <a:rPr lang="en-US" altLang="en-GB" sz="2800" b="1">
                <a:latin typeface="Times New Roman" panose="02020603050405020304" charset="0"/>
                <a:cs typeface="Times New Roman" panose="02020603050405020304" charset="0"/>
              </a:rPr>
              <a:t>Emaan Murtaza </a:t>
            </a:r>
            <a:endParaRPr lang="en-US" altLang="en-GB" sz="2800" b="1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 algn="ctr">
              <a:buNone/>
            </a:pPr>
            <a:r>
              <a:rPr lang="en-US" altLang="en-GB" sz="2800" b="1">
                <a:latin typeface="Times New Roman" panose="02020603050405020304" charset="0"/>
                <a:cs typeface="Times New Roman" panose="02020603050405020304" charset="0"/>
              </a:rPr>
              <a:t>(Bc230209941)</a:t>
            </a:r>
            <a:endParaRPr lang="en-US" altLang="en-GB" sz="2800" b="1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 algn="ctr">
              <a:buNone/>
            </a:pPr>
            <a:r>
              <a:rPr lang="en-US" altLang="en-GB" sz="2800" b="1">
                <a:latin typeface="Times New Roman" panose="02020603050405020304" charset="0"/>
                <a:cs typeface="Times New Roman" panose="02020603050405020304" charset="0"/>
              </a:rPr>
              <a:t>F24PROJECT47C82</a:t>
            </a:r>
            <a:endParaRPr lang="en-US" altLang="en-GB" sz="2800" b="1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 algn="ctr">
              <a:buNone/>
            </a:pPr>
            <a:endParaRPr lang="en-US" altLang="en-GB" sz="2800" b="1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 Box 3"/>
          <p:cNvSpPr txBox="1"/>
          <p:nvPr/>
        </p:nvSpPr>
        <p:spPr>
          <a:xfrm>
            <a:off x="974090" y="440690"/>
            <a:ext cx="2791460" cy="5796915"/>
          </a:xfrm>
          <a:prstGeom prst="rect">
            <a:avLst/>
          </a:prstGeom>
          <a:blipFill>
            <a:blip r:embed="rId1"/>
            <a:tile tx="0" ty="0" sx="100000" sy="100000" flip="none" algn="tl"/>
          </a:blipFill>
        </p:spPr>
        <p:style>
          <a:lnRef idx="0">
            <a:srgbClr val="FFFFFF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>
            <a:noAutofit/>
          </a:bodyPr>
          <a:p>
            <a:pPr algn="ctr"/>
            <a:endParaRPr lang="en-US" altLang="en-GB" sz="3200" b="1">
              <a:latin typeface="Times New Roman" panose="02020603050405020304" charset="0"/>
              <a:cs typeface="Times New Roman" panose="02020603050405020304" charset="0"/>
            </a:endParaRPr>
          </a:p>
          <a:p>
            <a:pPr algn="ctr"/>
            <a:r>
              <a:rPr lang="en-US" altLang="en-GB" sz="3200" b="1">
                <a:latin typeface="Times New Roman" panose="02020603050405020304" charset="0"/>
                <a:cs typeface="Times New Roman" panose="02020603050405020304" charset="0"/>
              </a:rPr>
              <a:t>Introduction to </a:t>
            </a:r>
            <a:r>
              <a:rPr lang="en-US" altLang="en-GB" sz="32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MCQ-Based Test System for Exam Preparation Using Python and Django Project</a:t>
            </a:r>
            <a:endParaRPr lang="en-US" altLang="en-GB" sz="32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4185285" y="441325"/>
            <a:ext cx="6090920" cy="57956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The </a:t>
            </a:r>
            <a:r>
              <a:rPr lang="en-US" altLang="en-GB" b="1">
                <a:latin typeface="Times New Roman" panose="02020603050405020304" charset="0"/>
                <a:cs typeface="Times New Roman" panose="02020603050405020304" charset="0"/>
              </a:rPr>
              <a:t>MCQ-Based Test System</a:t>
            </a:r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 is an innovative educational platform created to transform test design and preparation. 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This system creates a dynamic and encouraging learning environment by giving teachers the ability to create and administer personalized tests using an extensive question bank or AI-powered multiple-choice question generator, and by allowing students to take personalized tests, get immediate feedback, and track their progress. 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The platform was developed with flexibility, security, and scalability in mind. It meets a wide range of user requirements and, in the end, improves the teaching-learning process.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The </a:t>
            </a:r>
            <a:r>
              <a:rPr lang="en-US" altLang="en-GB" b="1">
                <a:latin typeface="Times New Roman" panose="02020603050405020304" charset="0"/>
                <a:cs typeface="Times New Roman" panose="02020603050405020304" charset="0"/>
              </a:rPr>
              <a:t>scope</a:t>
            </a:r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 includes the following: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Wingdings" panose="05000000000000000000" charset="0"/>
              <a:buChar char="v"/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</a:t>
            </a:r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Supporting Multiple Subjects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Wingdings" panose="05000000000000000000" charset="0"/>
              <a:buChar char="v"/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</a:t>
            </a:r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User-Friendly Interface for Teachers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Wingdings" panose="05000000000000000000" charset="0"/>
              <a:buChar char="v"/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</a:t>
            </a:r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Student Features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Wingdings" panose="05000000000000000000" charset="0"/>
              <a:buChar char="v"/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</a:t>
            </a:r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NLP Integration for MCQ Generation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Wingdings" panose="05000000000000000000" charset="0"/>
              <a:buChar char="v"/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</a:t>
            </a:r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Platform Security and Responsiveness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Wingdings" panose="05000000000000000000" charset="0"/>
              <a:buChar char="v"/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</a:t>
            </a:r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Comprehensive Solution for Exam Preparation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90500"/>
            <a:ext cx="9944100" cy="582930"/>
          </a:xfrm>
          <a:prstGeom prst="roundRect">
            <a:avLst/>
          </a:prstGeom>
          <a:solidFill>
            <a:srgbClr val="C2CEBD"/>
          </a:solidFill>
          <a:ln w="12700">
            <a:solidFill>
              <a:srgbClr val="0070C0"/>
            </a:solidFill>
          </a:ln>
          <a:effectLst>
            <a:innerShdw blurRad="114300">
              <a:prstClr val="black"/>
            </a:innerShdw>
          </a:effectLst>
        </p:spPr>
        <p:txBody>
          <a:bodyPr/>
          <a:p>
            <a:pPr algn="ctr"/>
            <a:r>
              <a:rPr lang="en-US" altLang="en-GB" b="1">
                <a:latin typeface="Times New Roman" panose="02020603050405020304" charset="0"/>
                <a:cs typeface="Times New Roman" panose="02020603050405020304" charset="0"/>
              </a:rPr>
              <a:t>Functional Requirements</a:t>
            </a:r>
            <a:endParaRPr lang="en-US" altLang="en-GB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152525"/>
            <a:ext cx="9476105" cy="5399405"/>
          </a:xfrm>
        </p:spPr>
        <p:txBody>
          <a:bodyPr/>
          <a:p>
            <a:pPr marL="228600" indent="-228600">
              <a:buFont typeface="+mj-lt"/>
              <a:buAutoNum type="arabicPeriod"/>
            </a:pPr>
            <a:r>
              <a:rPr lang="en-US" altLang="en-GB" sz="1600" b="1"/>
              <a:t>User Registration and Profile Management (Teacher and Student):</a:t>
            </a:r>
            <a:endParaRPr lang="en-US" altLang="en-GB" sz="1600" b="1"/>
          </a:p>
          <a:p>
            <a:pPr lvl="1">
              <a:buFont typeface="Wingdings" panose="05000000000000000000" charset="0"/>
              <a:buChar char="v"/>
            </a:pPr>
            <a:r>
              <a:rPr lang="en-US" altLang="en-US" sz="1600"/>
              <a:t></a:t>
            </a:r>
            <a:r>
              <a:rPr lang="en-US" altLang="en-GB" sz="1600"/>
              <a:t>Permit students and instructors to sign up and make profiles.</a:t>
            </a:r>
            <a:endParaRPr lang="en-US" altLang="en-GB" sz="1600"/>
          </a:p>
          <a:p>
            <a:pPr lvl="1">
              <a:buFont typeface="Wingdings" panose="05000000000000000000" charset="0"/>
              <a:buChar char="v"/>
            </a:pPr>
            <a:r>
              <a:rPr lang="en-US" altLang="en-US" sz="1600"/>
              <a:t></a:t>
            </a:r>
            <a:r>
              <a:rPr lang="en-US" altLang="en-GB" sz="1600"/>
              <a:t>Give educators access to tools for creating tests and managing their profiles.</a:t>
            </a:r>
            <a:endParaRPr lang="en-US" altLang="en-GB" sz="1600"/>
          </a:p>
          <a:p>
            <a:pPr lvl="1">
              <a:buFont typeface="Wingdings" panose="05000000000000000000" charset="0"/>
              <a:buChar char="v"/>
            </a:pPr>
            <a:r>
              <a:rPr lang="en-US" altLang="en-US" sz="1600"/>
              <a:t></a:t>
            </a:r>
            <a:r>
              <a:rPr lang="en-US" altLang="en-GB" sz="1600"/>
              <a:t>Give students the ability to monitor performance metrics and take assessments.</a:t>
            </a:r>
            <a:endParaRPr lang="en-US" altLang="en-GB" sz="1600"/>
          </a:p>
          <a:p>
            <a:pPr marL="0" indent="0">
              <a:buNone/>
            </a:pPr>
            <a:endParaRPr lang="en-US" altLang="en-GB" sz="1600"/>
          </a:p>
          <a:p>
            <a:pPr marL="0" indent="0">
              <a:buNone/>
            </a:pPr>
            <a:r>
              <a:rPr lang="en-US" altLang="en-GB" sz="1600" b="1"/>
              <a:t>2.   Question Bank Management (Teacher):</a:t>
            </a:r>
            <a:endParaRPr lang="en-US" altLang="en-GB" sz="1600" b="1"/>
          </a:p>
          <a:p>
            <a:pPr lvl="1">
              <a:buFont typeface="Wingdings" panose="05000000000000000000" charset="0"/>
              <a:buChar char="v"/>
            </a:pPr>
            <a:r>
              <a:rPr lang="en-US" altLang="en-US" sz="1600"/>
              <a:t></a:t>
            </a:r>
            <a:r>
              <a:rPr lang="en-US" altLang="en-GB" sz="1600"/>
              <a:t>Give educators the ability to add, modify, or remove questions from a single question bank.</a:t>
            </a:r>
            <a:endParaRPr lang="en-US" altLang="en-GB" sz="1600"/>
          </a:p>
          <a:p>
            <a:pPr lvl="1">
              <a:buFont typeface="Wingdings" panose="05000000000000000000" charset="0"/>
              <a:buChar char="v"/>
            </a:pPr>
            <a:r>
              <a:rPr lang="en-US" altLang="en-US" sz="1600"/>
              <a:t></a:t>
            </a:r>
            <a:r>
              <a:rPr lang="en-US" altLang="en-GB" sz="1600"/>
              <a:t>Encourage the grouping of questions according to their type, difficulty, subject, and theme.</a:t>
            </a:r>
            <a:endParaRPr lang="en-US" altLang="en-GB" sz="1600"/>
          </a:p>
          <a:p>
            <a:pPr marL="0" indent="0">
              <a:buNone/>
            </a:pPr>
            <a:endParaRPr lang="en-US" altLang="en-GB" sz="1600"/>
          </a:p>
          <a:p>
            <a:pPr marL="0" indent="0">
              <a:buNone/>
            </a:pPr>
            <a:r>
              <a:rPr lang="en-US" altLang="en-GB" sz="1600" b="1"/>
              <a:t>3.  Test Creation and Customization (Teacher):</a:t>
            </a:r>
            <a:endParaRPr lang="en-US" altLang="en-GB" sz="1600" b="1"/>
          </a:p>
          <a:p>
            <a:pPr lvl="1">
              <a:buFont typeface="Wingdings" panose="05000000000000000000" charset="0"/>
              <a:buChar char="v"/>
            </a:pPr>
            <a:r>
              <a:rPr lang="en-US" altLang="en-US" sz="1600"/>
              <a:t></a:t>
            </a:r>
            <a:r>
              <a:rPr lang="en-US" altLang="en-GB" sz="1600"/>
              <a:t>Give teachers the option to use the automatic MCQ generating feature or choose questions from the question bank to 	produce tests. </a:t>
            </a:r>
            <a:endParaRPr lang="en-US" altLang="en-GB" sz="1600"/>
          </a:p>
          <a:p>
            <a:pPr lvl="1">
              <a:buFont typeface="Wingdings" panose="05000000000000000000" charset="0"/>
              <a:buChar char="v"/>
            </a:pPr>
            <a:r>
              <a:rPr lang="en-US" altLang="en-US" sz="1600"/>
              <a:t></a:t>
            </a:r>
            <a:r>
              <a:rPr lang="en-US" altLang="en-GB" sz="1600"/>
              <a:t>Allow test customization by adjusting the time restrictions, difficulty levels, and question count.</a:t>
            </a:r>
            <a:endParaRPr lang="en-US" altLang="en-GB" sz="1600"/>
          </a:p>
          <a:p>
            <a:pPr marL="0" indent="0">
              <a:buNone/>
            </a:pPr>
            <a:endParaRPr lang="en-US" altLang="en-GB" sz="1600"/>
          </a:p>
          <a:p>
            <a:pPr marL="0" indent="0">
              <a:buNone/>
            </a:pPr>
            <a:r>
              <a:rPr lang="en-US" altLang="en-GB" sz="1600" b="1"/>
              <a:t>4.  Test Execution and Real-Time Evaluation (Student):</a:t>
            </a:r>
            <a:endParaRPr lang="en-US" altLang="en-GB" sz="1600" b="1"/>
          </a:p>
          <a:p>
            <a:pPr lvl="1">
              <a:buFont typeface="Wingdings" panose="05000000000000000000" charset="0"/>
              <a:buChar char="v"/>
            </a:pPr>
            <a:r>
              <a:rPr lang="en-US" altLang="en-US" sz="1600"/>
              <a:t></a:t>
            </a:r>
            <a:r>
              <a:rPr lang="en-US" altLang="en-GB" sz="1600"/>
              <a:t>Give students the opportunity to take tests and receive immediate feedback on their responses.</a:t>
            </a:r>
            <a:endParaRPr lang="en-US" altLang="en-GB" sz="1600"/>
          </a:p>
          <a:p>
            <a:pPr lvl="1">
              <a:buFont typeface="Wingdings" panose="05000000000000000000" charset="0"/>
              <a:buChar char="v"/>
            </a:pPr>
            <a:r>
              <a:rPr lang="en-US" altLang="en-US" sz="1600"/>
              <a:t></a:t>
            </a:r>
            <a:r>
              <a:rPr lang="en-US" altLang="en-GB" sz="1600"/>
              <a:t>Automatically evaluate answers and display appropriate options and justifications.</a:t>
            </a:r>
            <a:endParaRPr lang="en-US" altLang="en-GB" sz="1600"/>
          </a:p>
          <a:p>
            <a:pPr marL="0" indent="0">
              <a:buNone/>
            </a:pPr>
            <a:endParaRPr lang="en-US" altLang="en-GB" sz="1600"/>
          </a:p>
          <a:p>
            <a:pPr marL="0" indent="0">
              <a:buNone/>
            </a:pPr>
            <a:endParaRPr lang="en-US" altLang="en-GB" sz="16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476885"/>
            <a:ext cx="9869805" cy="582930"/>
          </a:xfrm>
          <a:prstGeom prst="roundRect">
            <a:avLst/>
          </a:prstGeom>
          <a:solidFill>
            <a:srgbClr val="C2CEBD"/>
          </a:solidFill>
          <a:ln>
            <a:solidFill>
              <a:srgbClr val="0070C0"/>
            </a:solidFill>
          </a:ln>
          <a:effectLst>
            <a:innerShdw blurRad="114300">
              <a:prstClr val="black"/>
            </a:innerShdw>
          </a:effectLst>
        </p:spPr>
        <p:txBody>
          <a:bodyPr/>
          <a:p>
            <a:pPr algn="ctr"/>
            <a:r>
              <a:rPr lang="en-US" altLang="en-GB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Functional Requirements</a:t>
            </a:r>
            <a:endParaRPr lang="en-GB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394460"/>
            <a:ext cx="9806305" cy="5175250"/>
          </a:xfrm>
        </p:spPr>
        <p:txBody>
          <a:bodyPr/>
          <a:p>
            <a:pPr marL="0" indent="0">
              <a:buNone/>
            </a:pPr>
            <a:r>
              <a:rPr lang="en-US" altLang="en-GB" sz="1600" b="1">
                <a:sym typeface="+mn-ea"/>
              </a:rPr>
              <a:t>5.  Performance Tracking and Analytics (Student and Teacher):</a:t>
            </a:r>
            <a:endParaRPr lang="en-US" altLang="en-GB" sz="1600" b="1"/>
          </a:p>
          <a:p>
            <a:pPr lvl="1">
              <a:buFont typeface="Wingdings" panose="05000000000000000000" charset="0"/>
              <a:buChar char="v"/>
            </a:pPr>
            <a:r>
              <a:rPr lang="en-US" altLang="en-US" sz="1600">
                <a:sym typeface="+mn-ea"/>
              </a:rPr>
              <a:t></a:t>
            </a:r>
            <a:r>
              <a:rPr lang="en-US" altLang="en-GB" sz="1600">
                <a:sym typeface="+mn-ea"/>
              </a:rPr>
              <a:t>Give students access to performance analytics and test results so they may monitor their development.</a:t>
            </a:r>
            <a:endParaRPr lang="en-US" altLang="en-GB" sz="1600"/>
          </a:p>
          <a:p>
            <a:pPr lvl="1">
              <a:buFont typeface="Wingdings" panose="05000000000000000000" charset="0"/>
              <a:buChar char="v"/>
            </a:pPr>
            <a:r>
              <a:rPr lang="en-US" altLang="en-US" sz="1600">
                <a:sym typeface="+mn-ea"/>
              </a:rPr>
              <a:t></a:t>
            </a:r>
            <a:r>
              <a:rPr lang="en-US" altLang="en-GB" sz="1600">
                <a:sym typeface="+mn-ea"/>
              </a:rPr>
              <a:t>Give teachers information about trends in both individual and group performance</a:t>
            </a:r>
            <a:endParaRPr lang="en-US" altLang="en-GB" sz="1600" b="1"/>
          </a:p>
          <a:p>
            <a:pPr marL="0" indent="0">
              <a:buNone/>
            </a:pPr>
            <a:endParaRPr lang="en-US" altLang="en-GB" sz="1600" b="1"/>
          </a:p>
          <a:p>
            <a:pPr marL="0" indent="0">
              <a:buNone/>
            </a:pPr>
            <a:r>
              <a:rPr lang="en-US" altLang="en-GB" sz="1600" b="1"/>
              <a:t>6.  Automatic MCQ Generation from Text (Teacher):</a:t>
            </a:r>
            <a:endParaRPr lang="en-US" altLang="en-GB" sz="1600"/>
          </a:p>
          <a:p>
            <a:pPr lvl="1">
              <a:buFont typeface="Wingdings" panose="05000000000000000000" charset="0"/>
              <a:buChar char="v"/>
            </a:pPr>
            <a:r>
              <a:rPr lang="en-US" altLang="en-US" sz="1600"/>
              <a:t></a:t>
            </a:r>
            <a:r>
              <a:rPr lang="en-US" altLang="en-GB" sz="1600"/>
              <a:t>Use NLP algorithms to automatically create multiple-choice questions from text input.</a:t>
            </a:r>
            <a:endParaRPr lang="en-US" altLang="en-GB" sz="1600"/>
          </a:p>
          <a:p>
            <a:pPr lvl="1">
              <a:buFont typeface="Wingdings" panose="05000000000000000000" charset="0"/>
              <a:buChar char="v"/>
            </a:pPr>
            <a:r>
              <a:rPr lang="en-US" altLang="en-US" sz="1600"/>
              <a:t></a:t>
            </a:r>
            <a:r>
              <a:rPr lang="en-US" altLang="en-GB" sz="1600"/>
              <a:t>Give teachers the ability to examine and modify the questions that are created.</a:t>
            </a:r>
            <a:endParaRPr lang="en-US" altLang="en-GB" sz="1600"/>
          </a:p>
          <a:p>
            <a:pPr lvl="1">
              <a:buFont typeface="Wingdings" panose="05000000000000000000" charset="0"/>
              <a:buChar char="v"/>
            </a:pPr>
            <a:endParaRPr lang="en-US" altLang="en-GB" sz="1600"/>
          </a:p>
          <a:p>
            <a:pPr marL="0" indent="0">
              <a:buNone/>
            </a:pPr>
            <a:r>
              <a:rPr lang="en-US" altLang="en-GB" sz="1600" b="1"/>
              <a:t>7.  Data Analysis and Preprocessing:</a:t>
            </a:r>
            <a:endParaRPr lang="en-US" altLang="en-GB" sz="1600"/>
          </a:p>
          <a:p>
            <a:pPr lvl="1">
              <a:buFont typeface="Wingdings" panose="05000000000000000000" charset="0"/>
              <a:buChar char="v"/>
            </a:pPr>
            <a:r>
              <a:rPr lang="en-US" altLang="en-US" sz="1600"/>
              <a:t></a:t>
            </a:r>
            <a:r>
              <a:rPr lang="en-US" altLang="en-GB" sz="1600"/>
              <a:t>Examine the MCQ dataset to make sure there is a broad range of subjects and skill levels.</a:t>
            </a:r>
            <a:endParaRPr lang="en-US" altLang="en-GB" sz="1600"/>
          </a:p>
          <a:p>
            <a:pPr lvl="1">
              <a:buFont typeface="Wingdings" panose="05000000000000000000" charset="0"/>
              <a:buChar char="v"/>
            </a:pPr>
            <a:r>
              <a:rPr lang="en-US" altLang="en-US" sz="1600"/>
              <a:t></a:t>
            </a:r>
            <a:r>
              <a:rPr lang="en-US" altLang="en-GB" sz="1600"/>
              <a:t>Sort questions according to themes, level of difficulty, and question type as part of the preprocessing step.</a:t>
            </a:r>
            <a:endParaRPr lang="en-US" altLang="en-GB" sz="1600"/>
          </a:p>
          <a:p>
            <a:pPr marL="0" indent="0">
              <a:buNone/>
            </a:pPr>
            <a:endParaRPr lang="en-US" altLang="en-GB" sz="1600"/>
          </a:p>
          <a:p>
            <a:pPr marL="0" indent="0">
              <a:buNone/>
            </a:pPr>
            <a:r>
              <a:rPr lang="en-US" altLang="en-GB" sz="1600" b="1"/>
              <a:t>8.  User Model Development:</a:t>
            </a:r>
            <a:endParaRPr lang="en-US" altLang="en-GB" sz="1600"/>
          </a:p>
          <a:p>
            <a:pPr lvl="1">
              <a:buFont typeface="Wingdings" panose="05000000000000000000" charset="0"/>
              <a:buChar char="v"/>
            </a:pPr>
            <a:r>
              <a:rPr lang="en-US" altLang="en-US" sz="1600"/>
              <a:t></a:t>
            </a:r>
            <a:r>
              <a:rPr lang="en-US" altLang="en-GB" sz="1600"/>
              <a:t>To control access and functionality, assign distinct user roles to instructors and students.</a:t>
            </a:r>
            <a:endParaRPr lang="en-US" altLang="en-GB" sz="1600"/>
          </a:p>
          <a:p>
            <a:pPr lvl="1">
              <a:buFont typeface="Wingdings" panose="05000000000000000000" charset="0"/>
              <a:buChar char="v"/>
            </a:pPr>
            <a:r>
              <a:rPr lang="en-US" altLang="en-US" sz="1600"/>
              <a:t></a:t>
            </a:r>
            <a:r>
              <a:rPr lang="en-US" altLang="en-GB" sz="1600"/>
              <a:t>To give tailored feedback and suggestions, keep track of students' progress, question tries, and scores.</a:t>
            </a:r>
            <a:endParaRPr lang="en-US" altLang="en-GB" sz="16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48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445770" y="112395"/>
            <a:ext cx="2032000" cy="6637655"/>
          </a:xfrm>
          <a:prstGeom prst="rect">
            <a:avLst/>
          </a:prstGeom>
          <a:blipFill rotWithShape="1">
            <a:blip r:embed="rId1"/>
            <a:tile tx="0" ty="0" sx="100000" sy="100000" flip="none" algn="bl"/>
          </a:blipFill>
          <a:ln w="28575" cmpd="sng">
            <a:solidFill>
              <a:schemeClr val="accent1">
                <a:shade val="50000"/>
              </a:schemeClr>
            </a:solidFill>
            <a:prstDash val="solid"/>
          </a:ln>
        </p:spPr>
        <p:style>
          <a:lnRef idx="2">
            <a:schemeClr val="accent1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>
            <a:noAutofit/>
          </a:bodyPr>
          <a:p>
            <a:pPr algn="ctr"/>
            <a:endParaRPr lang="en-US" altLang="en-GB" sz="2400" b="1">
              <a:latin typeface="Times New Roman" panose="02020603050405020304" charset="0"/>
              <a:cs typeface="Times New Roman" panose="02020603050405020304" charset="0"/>
            </a:endParaRPr>
          </a:p>
          <a:p>
            <a:pPr algn="ctr"/>
            <a:endParaRPr lang="en-US" altLang="en-GB" sz="2400" b="1">
              <a:latin typeface="Times New Roman" panose="02020603050405020304" charset="0"/>
              <a:cs typeface="Times New Roman" panose="02020603050405020304" charset="0"/>
            </a:endParaRPr>
          </a:p>
          <a:p>
            <a:pPr algn="ctr"/>
            <a:endParaRPr lang="en-US" altLang="en-GB" sz="2400" b="1">
              <a:latin typeface="Times New Roman" panose="02020603050405020304" charset="0"/>
              <a:cs typeface="Times New Roman" panose="02020603050405020304" charset="0"/>
            </a:endParaRPr>
          </a:p>
          <a:p>
            <a:pPr algn="ctr"/>
            <a:endParaRPr lang="en-US" altLang="en-GB" sz="2400" b="1">
              <a:latin typeface="Times New Roman" panose="02020603050405020304" charset="0"/>
              <a:cs typeface="Times New Roman" panose="02020603050405020304" charset="0"/>
            </a:endParaRPr>
          </a:p>
          <a:p>
            <a:pPr algn="ctr"/>
            <a:endParaRPr lang="en-US" altLang="en-GB" sz="2400" b="1">
              <a:latin typeface="Times New Roman" panose="02020603050405020304" charset="0"/>
              <a:cs typeface="Times New Roman" panose="02020603050405020304" charset="0"/>
            </a:endParaRPr>
          </a:p>
          <a:p>
            <a:pPr algn="ctr"/>
            <a:r>
              <a:rPr lang="en-US" altLang="en-GB" sz="2400" b="1">
                <a:latin typeface="Times New Roman" panose="02020603050405020304" charset="0"/>
                <a:cs typeface="Times New Roman" panose="02020603050405020304" charset="0"/>
              </a:rPr>
              <a:t>Use </a:t>
            </a:r>
            <a:endParaRPr lang="en-US" altLang="en-GB" sz="2400" b="1">
              <a:latin typeface="Times New Roman" panose="02020603050405020304" charset="0"/>
              <a:cs typeface="Times New Roman" panose="02020603050405020304" charset="0"/>
            </a:endParaRPr>
          </a:p>
          <a:p>
            <a:pPr algn="ctr"/>
            <a:r>
              <a:rPr lang="en-US" altLang="en-GB" sz="2400" b="1">
                <a:latin typeface="Times New Roman" panose="02020603050405020304" charset="0"/>
                <a:cs typeface="Times New Roman" panose="02020603050405020304" charset="0"/>
              </a:rPr>
              <a:t>Case </a:t>
            </a:r>
            <a:endParaRPr lang="en-US" altLang="en-GB" sz="2400" b="1">
              <a:latin typeface="Times New Roman" panose="02020603050405020304" charset="0"/>
              <a:cs typeface="Times New Roman" panose="02020603050405020304" charset="0"/>
            </a:endParaRPr>
          </a:p>
          <a:p>
            <a:pPr algn="ctr"/>
            <a:r>
              <a:rPr lang="en-US" altLang="en-GB" sz="2400" b="1">
                <a:latin typeface="Times New Roman" panose="02020603050405020304" charset="0"/>
                <a:cs typeface="Times New Roman" panose="02020603050405020304" charset="0"/>
              </a:rPr>
              <a:t>Diagram</a:t>
            </a:r>
            <a:endParaRPr lang="en-US" altLang="en-GB" sz="24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4" name="Picture 3" descr="Use Case Projec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3495" y="9525"/>
            <a:ext cx="7763510" cy="68389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62285218" name="Picture 5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835275" y="1315085"/>
            <a:ext cx="7025005" cy="505269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itle 2"/>
          <p:cNvSpPr>
            <a:spLocks noGrp="1"/>
          </p:cNvSpPr>
          <p:nvPr/>
        </p:nvSpPr>
        <p:spPr>
          <a:xfrm>
            <a:off x="609600" y="190500"/>
            <a:ext cx="9817100" cy="582930"/>
          </a:xfrm>
          <a:prstGeom prst="roundRect">
            <a:avLst/>
          </a:prstGeom>
          <a:solidFill>
            <a:srgbClr val="C2CEBD"/>
          </a:solidFill>
          <a:ln w="12700">
            <a:solidFill>
              <a:srgbClr val="0070C0"/>
            </a:solidFill>
          </a:ln>
          <a:effectLst>
            <a:innerShdw blurRad="114300">
              <a:prstClr val="black"/>
            </a:innerShdw>
          </a:effectLst>
        </p:spPr>
        <p:txBody>
          <a:bodyPr anchor="ctr" anchorCtr="0"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algn="ctr"/>
            <a:r>
              <a:rPr lang="en-US" altLang="en-GB" b="1">
                <a:latin typeface="Times New Roman" panose="02020603050405020304" charset="0"/>
                <a:cs typeface="Times New Roman" panose="02020603050405020304" charset="0"/>
              </a:rPr>
              <a:t>Adopted Methodology</a:t>
            </a:r>
            <a:endParaRPr lang="en-US" altLang="en-GB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795020" y="1315085"/>
            <a:ext cx="1932305" cy="5053330"/>
          </a:xfrm>
          <a:prstGeom prst="rect">
            <a:avLst/>
          </a:prstGeom>
          <a:blipFill>
            <a:blip r:embed="rId2"/>
          </a:blipFill>
          <a:ln w="19050"/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 rtlCol="0">
            <a:noAutofit/>
          </a:bodyPr>
          <a:p>
            <a:pPr algn="ctr"/>
            <a:endParaRPr lang="en-US" altLang="en-GB" b="1"/>
          </a:p>
          <a:p>
            <a:pPr algn="ctr"/>
            <a:endParaRPr lang="en-US" altLang="en-GB" b="1"/>
          </a:p>
          <a:p>
            <a:pPr algn="ctr"/>
            <a:endParaRPr lang="en-US" altLang="en-GB" b="1"/>
          </a:p>
          <a:p>
            <a:pPr algn="ctr"/>
            <a:endParaRPr lang="en-US" altLang="en-GB" b="1"/>
          </a:p>
          <a:p>
            <a:pPr algn="ctr"/>
            <a:endParaRPr lang="en-US" altLang="en-GB" b="1"/>
          </a:p>
          <a:p>
            <a:pPr algn="ctr"/>
            <a:endParaRPr lang="en-US" altLang="en-GB" b="1"/>
          </a:p>
          <a:p>
            <a:pPr algn="ctr"/>
            <a:r>
              <a:rPr lang="en-US" altLang="en-GB" sz="2000" b="1">
                <a:latin typeface="Times New Roman" panose="02020603050405020304" charset="0"/>
                <a:cs typeface="Times New Roman" panose="02020603050405020304" charset="0"/>
              </a:rPr>
              <a:t>VU</a:t>
            </a:r>
            <a:endParaRPr lang="en-US" altLang="en-GB" sz="2000" b="1">
              <a:latin typeface="Times New Roman" panose="02020603050405020304" charset="0"/>
              <a:cs typeface="Times New Roman" panose="02020603050405020304" charset="0"/>
            </a:endParaRPr>
          </a:p>
          <a:p>
            <a:pPr algn="ctr"/>
            <a:r>
              <a:rPr lang="en-US" altLang="en-GB" sz="2000" b="1">
                <a:latin typeface="Times New Roman" panose="02020603050405020304" charset="0"/>
                <a:cs typeface="Times New Roman" panose="02020603050405020304" charset="0"/>
              </a:rPr>
              <a:t>Process</a:t>
            </a:r>
            <a:endParaRPr lang="en-US" altLang="en-GB" sz="2000" b="1">
              <a:latin typeface="Times New Roman" panose="02020603050405020304" charset="0"/>
              <a:cs typeface="Times New Roman" panose="02020603050405020304" charset="0"/>
            </a:endParaRPr>
          </a:p>
          <a:p>
            <a:pPr algn="ctr"/>
            <a:r>
              <a:rPr lang="en-US" altLang="en-GB" sz="2000" b="1">
                <a:latin typeface="Times New Roman" panose="02020603050405020304" charset="0"/>
                <a:cs typeface="Times New Roman" panose="02020603050405020304" charset="0"/>
              </a:rPr>
              <a:t>Model</a:t>
            </a:r>
            <a:endParaRPr lang="en-US" altLang="en-GB" sz="2000" b="1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09600" y="190500"/>
            <a:ext cx="9817100" cy="582930"/>
          </a:xfrm>
          <a:prstGeom prst="roundRect">
            <a:avLst/>
          </a:prstGeom>
          <a:solidFill>
            <a:srgbClr val="C2CEBD"/>
          </a:solidFill>
          <a:ln w="12700">
            <a:solidFill>
              <a:srgbClr val="0070C0"/>
            </a:solidFill>
          </a:ln>
          <a:effectLst>
            <a:innerShdw blurRad="114300">
              <a:prstClr val="black"/>
            </a:innerShdw>
          </a:effectLst>
        </p:spPr>
        <p:txBody>
          <a:bodyPr/>
          <a:p>
            <a:pPr algn="ctr"/>
            <a:r>
              <a:rPr lang="en-US" altLang="en-GB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VU Process Model</a:t>
            </a:r>
            <a:endParaRPr lang="en-GB" altLang="en-US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795020" y="1315085"/>
            <a:ext cx="1932305" cy="5053330"/>
          </a:xfrm>
          <a:prstGeom prst="rect">
            <a:avLst/>
          </a:prstGeom>
          <a:blipFill>
            <a:blip r:embed="rId1"/>
          </a:blipFill>
          <a:ln w="19050"/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 rtlCol="0">
            <a:noAutofit/>
          </a:bodyPr>
          <a:p>
            <a:pPr algn="ctr"/>
            <a:endParaRPr lang="en-US" altLang="en-GB" b="1"/>
          </a:p>
          <a:p>
            <a:pPr algn="ctr"/>
            <a:endParaRPr lang="en-US" altLang="en-GB" b="1"/>
          </a:p>
          <a:p>
            <a:pPr algn="ctr"/>
            <a:endParaRPr lang="en-US" altLang="en-GB" b="1"/>
          </a:p>
          <a:p>
            <a:pPr algn="ctr"/>
            <a:endParaRPr lang="en-US" altLang="en-GB" b="1"/>
          </a:p>
          <a:p>
            <a:pPr algn="ctr"/>
            <a:endParaRPr lang="en-US" altLang="en-GB" b="1"/>
          </a:p>
          <a:p>
            <a:pPr algn="ctr"/>
            <a:endParaRPr lang="en-US" altLang="en-GB" b="1"/>
          </a:p>
          <a:p>
            <a:pPr algn="ctr"/>
            <a:endParaRPr lang="en-US" altLang="en-GB" b="1"/>
          </a:p>
          <a:p>
            <a:pPr algn="ctr"/>
            <a:r>
              <a:rPr lang="en-US" altLang="en-GB" sz="2000" b="1">
                <a:latin typeface="Times New Roman" panose="02020603050405020304" charset="0"/>
                <a:cs typeface="Times New Roman" panose="02020603050405020304" charset="0"/>
              </a:rPr>
              <a:t>Waterfall</a:t>
            </a:r>
            <a:endParaRPr lang="en-US" altLang="en-GB" sz="2000" b="1">
              <a:latin typeface="Times New Roman" panose="02020603050405020304" charset="0"/>
              <a:cs typeface="Times New Roman" panose="02020603050405020304" charset="0"/>
            </a:endParaRPr>
          </a:p>
          <a:p>
            <a:pPr algn="ctr"/>
            <a:r>
              <a:rPr lang="en-US" altLang="en-GB" sz="2000" b="1">
                <a:latin typeface="Times New Roman" panose="02020603050405020304" charset="0"/>
                <a:cs typeface="Times New Roman" panose="02020603050405020304" charset="0"/>
              </a:rPr>
              <a:t>Model</a:t>
            </a:r>
            <a:endParaRPr lang="en-US" altLang="en-GB" sz="20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1702602210" name="Picture 1"/>
          <p:cNvPicPr>
            <a:picLocks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32735" y="1315085"/>
            <a:ext cx="7104380" cy="505333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09600" y="190500"/>
            <a:ext cx="9817100" cy="582930"/>
          </a:xfrm>
          <a:prstGeom prst="roundRect">
            <a:avLst/>
          </a:prstGeom>
          <a:solidFill>
            <a:srgbClr val="C2CEBD"/>
          </a:solidFill>
          <a:ln w="12700">
            <a:solidFill>
              <a:srgbClr val="0070C0"/>
            </a:solidFill>
          </a:ln>
          <a:effectLst>
            <a:innerShdw blurRad="114300">
              <a:prstClr val="black"/>
            </a:innerShdw>
          </a:effectLst>
        </p:spPr>
        <p:txBody>
          <a:bodyPr/>
          <a:p>
            <a:pPr algn="ctr"/>
            <a:r>
              <a:rPr lang="en-US" altLang="en-GB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VU Process Model</a:t>
            </a:r>
            <a:endParaRPr lang="en-GB" altLang="en-US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795020" y="1315085"/>
            <a:ext cx="1932305" cy="5053330"/>
          </a:xfrm>
          <a:prstGeom prst="rect">
            <a:avLst/>
          </a:prstGeom>
          <a:blipFill>
            <a:blip r:embed="rId1"/>
          </a:blipFill>
          <a:ln w="19050"/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 rtlCol="0">
            <a:noAutofit/>
          </a:bodyPr>
          <a:p>
            <a:pPr algn="ctr"/>
            <a:endParaRPr lang="en-US" altLang="en-GB" b="1"/>
          </a:p>
          <a:p>
            <a:pPr algn="ctr"/>
            <a:endParaRPr lang="en-US" altLang="en-GB" b="1"/>
          </a:p>
          <a:p>
            <a:pPr algn="ctr"/>
            <a:endParaRPr lang="en-US" altLang="en-GB" b="1"/>
          </a:p>
          <a:p>
            <a:pPr algn="ctr"/>
            <a:endParaRPr lang="en-US" altLang="en-GB" b="1"/>
          </a:p>
          <a:p>
            <a:pPr algn="ctr"/>
            <a:endParaRPr lang="en-US" altLang="en-GB" b="1"/>
          </a:p>
          <a:p>
            <a:pPr algn="ctr"/>
            <a:endParaRPr lang="en-US" altLang="en-GB" b="1"/>
          </a:p>
          <a:p>
            <a:pPr algn="ctr"/>
            <a:endParaRPr lang="en-US" altLang="en-GB" b="1"/>
          </a:p>
          <a:p>
            <a:pPr algn="ctr"/>
            <a:r>
              <a:rPr lang="en-US" altLang="en-GB" sz="2000" b="1">
                <a:latin typeface="Times New Roman" panose="02020603050405020304" charset="0"/>
                <a:cs typeface="Times New Roman" panose="02020603050405020304" charset="0"/>
              </a:rPr>
              <a:t>Spiral</a:t>
            </a:r>
            <a:endParaRPr lang="en-US" altLang="en-GB" sz="2000" b="1">
              <a:latin typeface="Times New Roman" panose="02020603050405020304" charset="0"/>
              <a:cs typeface="Times New Roman" panose="02020603050405020304" charset="0"/>
            </a:endParaRPr>
          </a:p>
          <a:p>
            <a:pPr algn="ctr"/>
            <a:r>
              <a:rPr lang="en-US" altLang="en-GB" sz="2000" b="1">
                <a:latin typeface="Times New Roman" panose="02020603050405020304" charset="0"/>
                <a:cs typeface="Times New Roman" panose="02020603050405020304" charset="0"/>
              </a:rPr>
              <a:t>Model</a:t>
            </a:r>
            <a:endParaRPr lang="en-US" altLang="en-GB" sz="20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2123313477" name="Picture 1"/>
          <p:cNvPicPr>
            <a:picLocks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951480" y="1315085"/>
            <a:ext cx="6597015" cy="50793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09600" y="190500"/>
            <a:ext cx="9944735" cy="582930"/>
          </a:xfrm>
          <a:solidFill>
            <a:srgbClr val="C2CEBD"/>
          </a:solidFill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/>
          <a:p>
            <a:pPr algn="ctr"/>
            <a:r>
              <a:rPr lang="en-US" altLang="en-GB" b="1"/>
              <a:t>Gantt Chart</a:t>
            </a:r>
            <a:endParaRPr lang="en-US" altLang="en-GB" b="1"/>
          </a:p>
        </p:txBody>
      </p:sp>
      <p:pic>
        <p:nvPicPr>
          <p:cNvPr id="2088674908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8015" y="1510030"/>
            <a:ext cx="9926320" cy="446468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Text Box 4"/>
          <p:cNvSpPr txBox="1"/>
          <p:nvPr/>
        </p:nvSpPr>
        <p:spPr>
          <a:xfrm>
            <a:off x="603885" y="100330"/>
            <a:ext cx="2165985" cy="6680200"/>
          </a:xfrm>
          <a:prstGeom prst="rect">
            <a:avLst/>
          </a:prstGeom>
          <a:blipFill rotWithShape="1">
            <a:blip r:embed="rId1"/>
            <a:tile tx="0" ty="0" sx="100000" sy="100000" flip="none" algn="bl"/>
          </a:blipFill>
        </p:spPr>
        <p:txBody>
          <a:bodyPr wrap="square" rtlCol="0">
            <a:noAutofit/>
          </a:bodyPr>
          <a:p>
            <a:pPr algn="ctr"/>
            <a:endParaRPr lang="en-US" altLang="en-GB"/>
          </a:p>
          <a:p>
            <a:pPr algn="ctr"/>
            <a:endParaRPr lang="en-US" altLang="en-GB"/>
          </a:p>
          <a:p>
            <a:pPr algn="ctr"/>
            <a:endParaRPr lang="en-US" altLang="en-GB" sz="2400">
              <a:latin typeface="Times New Roman" panose="02020603050405020304" charset="0"/>
              <a:cs typeface="Times New Roman" panose="02020603050405020304" charset="0"/>
            </a:endParaRPr>
          </a:p>
          <a:p>
            <a:pPr algn="ctr"/>
            <a:endParaRPr lang="en-US" altLang="en-GB" sz="2400">
              <a:latin typeface="Times New Roman" panose="02020603050405020304" charset="0"/>
              <a:cs typeface="Times New Roman" panose="02020603050405020304" charset="0"/>
            </a:endParaRPr>
          </a:p>
          <a:p>
            <a:pPr algn="ctr"/>
            <a:endParaRPr lang="en-US" altLang="en-GB" sz="2400">
              <a:latin typeface="Times New Roman" panose="02020603050405020304" charset="0"/>
              <a:cs typeface="Times New Roman" panose="02020603050405020304" charset="0"/>
            </a:endParaRPr>
          </a:p>
          <a:p>
            <a:pPr algn="ctr"/>
            <a:endParaRPr lang="en-US" altLang="en-GB" sz="2400">
              <a:latin typeface="Times New Roman" panose="02020603050405020304" charset="0"/>
              <a:cs typeface="Times New Roman" panose="02020603050405020304" charset="0"/>
            </a:endParaRPr>
          </a:p>
          <a:p>
            <a:pPr algn="ctr"/>
            <a:r>
              <a:rPr lang="en-US" altLang="en-GB" sz="2800" b="1">
                <a:latin typeface="Times New Roman" panose="02020603050405020304" charset="0"/>
                <a:cs typeface="Times New Roman" panose="02020603050405020304" charset="0"/>
              </a:rPr>
              <a:t>Entity </a:t>
            </a:r>
            <a:endParaRPr lang="en-US" altLang="en-GB" sz="2800" b="1">
              <a:latin typeface="Times New Roman" panose="02020603050405020304" charset="0"/>
              <a:cs typeface="Times New Roman" panose="02020603050405020304" charset="0"/>
            </a:endParaRPr>
          </a:p>
          <a:p>
            <a:pPr algn="ctr"/>
            <a:r>
              <a:rPr lang="en-US" altLang="en-GB" sz="2800" b="1">
                <a:latin typeface="Times New Roman" panose="02020603050405020304" charset="0"/>
                <a:cs typeface="Times New Roman" panose="02020603050405020304" charset="0"/>
              </a:rPr>
              <a:t>Relationship</a:t>
            </a:r>
            <a:endParaRPr lang="en-US" altLang="en-GB" sz="2800" b="1">
              <a:latin typeface="Times New Roman" panose="02020603050405020304" charset="0"/>
              <a:cs typeface="Times New Roman" panose="02020603050405020304" charset="0"/>
            </a:endParaRPr>
          </a:p>
          <a:p>
            <a:pPr algn="ctr"/>
            <a:r>
              <a:rPr lang="en-US" altLang="en-GB" sz="2800" b="1">
                <a:latin typeface="Times New Roman" panose="02020603050405020304" charset="0"/>
                <a:cs typeface="Times New Roman" panose="02020603050405020304" charset="0"/>
              </a:rPr>
              <a:t>(ER) </a:t>
            </a:r>
            <a:endParaRPr lang="en-US" altLang="en-GB" sz="2800" b="1">
              <a:latin typeface="Times New Roman" panose="02020603050405020304" charset="0"/>
              <a:cs typeface="Times New Roman" panose="02020603050405020304" charset="0"/>
            </a:endParaRPr>
          </a:p>
          <a:p>
            <a:pPr algn="ctr"/>
            <a:r>
              <a:rPr lang="en-US" altLang="en-GB" sz="2800" b="1">
                <a:latin typeface="Times New Roman" panose="02020603050405020304" charset="0"/>
                <a:cs typeface="Times New Roman" panose="02020603050405020304" charset="0"/>
              </a:rPr>
              <a:t>Diagram</a:t>
            </a:r>
            <a:endParaRPr lang="en-US" altLang="en-GB" sz="28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2" name="Picture 1" descr="ERDLas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8695" y="0"/>
            <a:ext cx="6503035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eelOff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09600" y="190500"/>
            <a:ext cx="9817100" cy="582930"/>
          </a:xfrm>
          <a:prstGeom prst="roundRect">
            <a:avLst/>
          </a:prstGeom>
          <a:solidFill>
            <a:srgbClr val="C2CEBD"/>
          </a:solidFill>
          <a:ln w="12700">
            <a:solidFill>
              <a:srgbClr val="0070C0"/>
            </a:solidFill>
          </a:ln>
          <a:effectLst>
            <a:innerShdw blurRad="114300">
              <a:prstClr val="black"/>
            </a:innerShdw>
          </a:effectLst>
        </p:spPr>
        <p:txBody>
          <a:bodyPr/>
          <a:p>
            <a:pPr algn="ctr"/>
            <a:r>
              <a:rPr lang="en-US" altLang="en-GB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Sequence Diagrams</a:t>
            </a:r>
            <a:endParaRPr lang="en-GB" altLang="en-US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1127293114" name="Picture 1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818765" y="1315085"/>
            <a:ext cx="7437755" cy="5052695"/>
          </a:xfrm>
          <a:prstGeom prst="rect">
            <a:avLst/>
          </a:prstGeom>
        </p:spPr>
      </p:pic>
      <p:sp>
        <p:nvSpPr>
          <p:cNvPr id="6" name="Text Box 5"/>
          <p:cNvSpPr txBox="1"/>
          <p:nvPr/>
        </p:nvSpPr>
        <p:spPr>
          <a:xfrm>
            <a:off x="795020" y="1315085"/>
            <a:ext cx="1932305" cy="5053330"/>
          </a:xfrm>
          <a:prstGeom prst="rect">
            <a:avLst/>
          </a:prstGeom>
          <a:blipFill>
            <a:blip r:embed="rId2"/>
          </a:blipFill>
          <a:ln w="19050"/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 rtlCol="0">
            <a:noAutofit/>
          </a:bodyPr>
          <a:p>
            <a:pPr algn="ctr"/>
            <a:endParaRPr lang="en-US" altLang="en-GB" b="1"/>
          </a:p>
          <a:p>
            <a:pPr algn="ctr"/>
            <a:endParaRPr lang="en-US" altLang="en-GB" b="1"/>
          </a:p>
          <a:p>
            <a:pPr algn="ctr"/>
            <a:endParaRPr lang="en-US" altLang="en-GB" b="1"/>
          </a:p>
          <a:p>
            <a:pPr algn="ctr"/>
            <a:endParaRPr lang="en-US" altLang="en-GB" b="1"/>
          </a:p>
          <a:p>
            <a:pPr algn="ctr"/>
            <a:endParaRPr lang="en-US" altLang="en-GB" b="1"/>
          </a:p>
          <a:p>
            <a:pPr algn="ctr"/>
            <a:endParaRPr lang="en-US" altLang="en-GB" b="1"/>
          </a:p>
          <a:p>
            <a:pPr algn="ctr"/>
            <a:endParaRPr lang="en-US" altLang="en-GB" b="1"/>
          </a:p>
          <a:p>
            <a:pPr algn="ctr"/>
            <a:r>
              <a:rPr lang="en-US" altLang="en-GB" sz="2000" b="1">
                <a:latin typeface="Times New Roman" panose="02020603050405020304" charset="0"/>
                <a:cs typeface="Times New Roman" panose="02020603050405020304" charset="0"/>
              </a:rPr>
              <a:t>User </a:t>
            </a:r>
            <a:endParaRPr lang="en-US" altLang="en-GB" sz="2000" b="1">
              <a:latin typeface="Times New Roman" panose="02020603050405020304" charset="0"/>
              <a:cs typeface="Times New Roman" panose="02020603050405020304" charset="0"/>
            </a:endParaRPr>
          </a:p>
          <a:p>
            <a:pPr algn="ctr"/>
            <a:r>
              <a:rPr lang="en-US" altLang="en-GB" sz="2000" b="1">
                <a:latin typeface="Times New Roman" panose="02020603050405020304" charset="0"/>
                <a:cs typeface="Times New Roman" panose="02020603050405020304" charset="0"/>
              </a:rPr>
              <a:t>Authentication</a:t>
            </a:r>
            <a:endParaRPr lang="en-GB" altLang="en-US" sz="2000" b="1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09600" y="190500"/>
            <a:ext cx="9817100" cy="582930"/>
          </a:xfrm>
          <a:prstGeom prst="roundRect">
            <a:avLst/>
          </a:prstGeom>
          <a:solidFill>
            <a:srgbClr val="C2CEBD"/>
          </a:solidFill>
          <a:ln w="12700">
            <a:solidFill>
              <a:srgbClr val="0070C0"/>
            </a:solidFill>
          </a:ln>
          <a:effectLst>
            <a:innerShdw blurRad="114300">
              <a:prstClr val="black"/>
            </a:innerShdw>
          </a:effectLst>
        </p:spPr>
        <p:txBody>
          <a:bodyPr/>
          <a:p>
            <a:pPr algn="ctr"/>
            <a:r>
              <a:rPr lang="en-US" altLang="en-GB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Sequence Diagrams</a:t>
            </a:r>
            <a:endParaRPr lang="en-GB" altLang="en-US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795020" y="1315085"/>
            <a:ext cx="1932305" cy="5053330"/>
          </a:xfrm>
          <a:prstGeom prst="rect">
            <a:avLst/>
          </a:prstGeom>
          <a:blipFill>
            <a:blip r:embed="rId1"/>
          </a:blipFill>
          <a:ln w="19050"/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 rtlCol="0">
            <a:noAutofit/>
          </a:bodyPr>
          <a:p>
            <a:pPr algn="ctr"/>
            <a:endParaRPr lang="en-US" altLang="en-GB" sz="2000" b="1"/>
          </a:p>
          <a:p>
            <a:pPr algn="ctr"/>
            <a:endParaRPr lang="en-US" altLang="en-GB" sz="2000" b="1"/>
          </a:p>
          <a:p>
            <a:pPr algn="ctr"/>
            <a:endParaRPr lang="en-US" altLang="en-GB" sz="2000" b="1"/>
          </a:p>
          <a:p>
            <a:pPr algn="ctr"/>
            <a:endParaRPr lang="en-US" altLang="en-GB" sz="2000" b="1"/>
          </a:p>
          <a:p>
            <a:pPr algn="ctr"/>
            <a:endParaRPr lang="en-US" altLang="en-GB" sz="2000" b="1"/>
          </a:p>
          <a:p>
            <a:pPr algn="ctr"/>
            <a:endParaRPr lang="en-US" altLang="en-GB" sz="2000" b="1"/>
          </a:p>
          <a:p>
            <a:pPr algn="ctr"/>
            <a:r>
              <a:rPr lang="en-US" altLang="en-GB" sz="2000" b="1">
                <a:latin typeface="Times New Roman" panose="02020603050405020304" charset="0"/>
                <a:cs typeface="Times New Roman" panose="02020603050405020304" charset="0"/>
              </a:rPr>
              <a:t>Manage </a:t>
            </a:r>
            <a:endParaRPr lang="en-US" altLang="en-GB" sz="2000" b="1">
              <a:latin typeface="Times New Roman" panose="02020603050405020304" charset="0"/>
              <a:cs typeface="Times New Roman" panose="02020603050405020304" charset="0"/>
            </a:endParaRPr>
          </a:p>
          <a:p>
            <a:pPr algn="ctr"/>
            <a:r>
              <a:rPr lang="en-US" altLang="en-GB" sz="2000" b="1">
                <a:latin typeface="Times New Roman" panose="02020603050405020304" charset="0"/>
                <a:cs typeface="Times New Roman" panose="02020603050405020304" charset="0"/>
              </a:rPr>
              <a:t>Mcqs</a:t>
            </a:r>
            <a:endParaRPr lang="en-US" altLang="en-GB" sz="2000" b="1">
              <a:latin typeface="Times New Roman" panose="02020603050405020304" charset="0"/>
              <a:cs typeface="Times New Roman" panose="02020603050405020304" charset="0"/>
            </a:endParaRPr>
          </a:p>
          <a:p>
            <a:pPr algn="ctr"/>
            <a:r>
              <a:rPr lang="en-US" altLang="en-GB" sz="2000" b="1">
                <a:latin typeface="Times New Roman" panose="02020603050405020304" charset="0"/>
                <a:cs typeface="Times New Roman" panose="02020603050405020304" charset="0"/>
              </a:rPr>
              <a:t>(Teacher) </a:t>
            </a:r>
            <a:endParaRPr lang="en-GB" altLang="en-US" sz="20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5" name="Picture 1"/>
          <p:cNvPicPr>
            <a:picLocks noChangeAspect="1"/>
          </p:cNvPicPr>
          <p:nvPr>
            <p:ph idx="1"/>
          </p:nvPr>
        </p:nvPicPr>
        <p:blipFill>
          <a:blip r:embed="rId2"/>
          <a:srcRect t="2769" r="915"/>
          <a:stretch>
            <a:fillRect/>
          </a:stretch>
        </p:blipFill>
        <p:spPr>
          <a:xfrm>
            <a:off x="2783840" y="1315720"/>
            <a:ext cx="7642860" cy="5052695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09600" y="190500"/>
            <a:ext cx="9817100" cy="582930"/>
          </a:xfrm>
          <a:prstGeom prst="roundRect">
            <a:avLst/>
          </a:prstGeom>
          <a:solidFill>
            <a:srgbClr val="C2CEBD"/>
          </a:solidFill>
          <a:ln w="12700">
            <a:solidFill>
              <a:srgbClr val="0070C0"/>
            </a:solidFill>
          </a:ln>
          <a:effectLst>
            <a:innerShdw blurRad="114300">
              <a:prstClr val="black"/>
            </a:innerShdw>
          </a:effectLst>
        </p:spPr>
        <p:txBody>
          <a:bodyPr/>
          <a:p>
            <a:pPr algn="ctr"/>
            <a:r>
              <a:rPr lang="en-US" altLang="en-GB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Sequence Diagrams</a:t>
            </a:r>
            <a:endParaRPr lang="en-GB" altLang="en-US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795020" y="1315085"/>
            <a:ext cx="1932305" cy="5053330"/>
          </a:xfrm>
          <a:prstGeom prst="rect">
            <a:avLst/>
          </a:prstGeom>
          <a:blipFill>
            <a:blip r:embed="rId1"/>
          </a:blipFill>
          <a:ln w="19050"/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 rtlCol="0">
            <a:noAutofit/>
          </a:bodyPr>
          <a:p>
            <a:pPr algn="ctr"/>
            <a:endParaRPr lang="en-US" altLang="en-GB" sz="2000" b="1"/>
          </a:p>
          <a:p>
            <a:pPr algn="ctr"/>
            <a:endParaRPr lang="en-US" altLang="en-GB" sz="2000" b="1"/>
          </a:p>
          <a:p>
            <a:pPr algn="ctr"/>
            <a:endParaRPr lang="en-US" altLang="en-GB" sz="2000" b="1"/>
          </a:p>
          <a:p>
            <a:pPr algn="ctr"/>
            <a:endParaRPr lang="en-US" altLang="en-GB" sz="2000" b="1"/>
          </a:p>
          <a:p>
            <a:pPr algn="ctr"/>
            <a:endParaRPr lang="en-US" altLang="en-GB" sz="2000" b="1"/>
          </a:p>
          <a:p>
            <a:pPr algn="ctr"/>
            <a:endParaRPr lang="en-US" altLang="en-GB" sz="2000" b="1"/>
          </a:p>
          <a:p>
            <a:pPr algn="ctr"/>
            <a:r>
              <a:rPr lang="en-US" altLang="en-GB" sz="2000" b="1">
                <a:latin typeface="Times New Roman" panose="02020603050405020304" charset="0"/>
                <a:cs typeface="Times New Roman" panose="02020603050405020304" charset="0"/>
              </a:rPr>
              <a:t>Test</a:t>
            </a:r>
            <a:endParaRPr lang="en-US" altLang="en-GB" sz="2000" b="1">
              <a:latin typeface="Times New Roman" panose="02020603050405020304" charset="0"/>
              <a:cs typeface="Times New Roman" panose="02020603050405020304" charset="0"/>
            </a:endParaRPr>
          </a:p>
          <a:p>
            <a:pPr algn="ctr"/>
            <a:r>
              <a:rPr lang="en-US" altLang="en-GB" sz="2000" b="1">
                <a:latin typeface="Times New Roman" panose="02020603050405020304" charset="0"/>
                <a:cs typeface="Times New Roman" panose="02020603050405020304" charset="0"/>
              </a:rPr>
              <a:t>Creation</a:t>
            </a:r>
            <a:endParaRPr lang="en-US" altLang="en-GB" sz="2000" b="1">
              <a:latin typeface="Times New Roman" panose="02020603050405020304" charset="0"/>
              <a:cs typeface="Times New Roman" panose="02020603050405020304" charset="0"/>
            </a:endParaRPr>
          </a:p>
          <a:p>
            <a:pPr algn="ctr"/>
            <a:r>
              <a:rPr lang="en-US" altLang="en-GB" sz="2000" b="1">
                <a:latin typeface="Times New Roman" panose="02020603050405020304" charset="0"/>
                <a:cs typeface="Times New Roman" panose="02020603050405020304" charset="0"/>
              </a:rPr>
              <a:t>(Teacher) </a:t>
            </a:r>
            <a:endParaRPr lang="en-GB" altLang="en-US" sz="20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299992250" name="Picture 1"/>
          <p:cNvPicPr>
            <a:picLocks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23845" y="1314450"/>
            <a:ext cx="7089775" cy="505396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push dir="u"/>
      </p:transition>
    </mc:Choice>
    <mc:Fallback>
      <p:transition spd="slow">
        <p:push dir="u"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09600" y="190500"/>
            <a:ext cx="9817100" cy="582930"/>
          </a:xfrm>
          <a:prstGeom prst="roundRect">
            <a:avLst/>
          </a:prstGeom>
          <a:solidFill>
            <a:srgbClr val="C2CEBD"/>
          </a:solidFill>
          <a:ln w="12700">
            <a:solidFill>
              <a:srgbClr val="0070C0"/>
            </a:solidFill>
          </a:ln>
          <a:effectLst>
            <a:innerShdw blurRad="114300">
              <a:prstClr val="black"/>
            </a:innerShdw>
          </a:effectLst>
        </p:spPr>
        <p:txBody>
          <a:bodyPr/>
          <a:p>
            <a:pPr algn="ctr"/>
            <a:r>
              <a:rPr lang="en-US" altLang="en-GB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Sequence Diagrams</a:t>
            </a:r>
            <a:endParaRPr lang="en-GB" altLang="en-US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795020" y="1315085"/>
            <a:ext cx="1932305" cy="5053330"/>
          </a:xfrm>
          <a:prstGeom prst="rect">
            <a:avLst/>
          </a:prstGeom>
          <a:blipFill>
            <a:blip r:embed="rId1"/>
          </a:blipFill>
          <a:ln w="19050"/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 rtlCol="0">
            <a:noAutofit/>
          </a:bodyPr>
          <a:p>
            <a:pPr algn="ctr"/>
            <a:endParaRPr lang="en-US" altLang="en-GB" sz="2000" b="1"/>
          </a:p>
          <a:p>
            <a:pPr algn="ctr"/>
            <a:endParaRPr lang="en-US" altLang="en-GB" sz="2000" b="1"/>
          </a:p>
          <a:p>
            <a:pPr algn="ctr"/>
            <a:endParaRPr lang="en-US" altLang="en-GB" sz="2000" b="1"/>
          </a:p>
          <a:p>
            <a:pPr algn="ctr"/>
            <a:endParaRPr lang="en-US" altLang="en-GB" sz="2000" b="1"/>
          </a:p>
          <a:p>
            <a:pPr algn="ctr"/>
            <a:endParaRPr lang="en-US" altLang="en-GB" sz="2000" b="1"/>
          </a:p>
          <a:p>
            <a:pPr algn="ctr"/>
            <a:endParaRPr lang="en-US" altLang="en-GB" sz="2000" b="1"/>
          </a:p>
          <a:p>
            <a:pPr algn="ctr"/>
            <a:r>
              <a:rPr lang="en-US" altLang="en-GB" sz="2000" b="1">
                <a:latin typeface="Times New Roman" panose="02020603050405020304" charset="0"/>
                <a:cs typeface="Times New Roman" panose="02020603050405020304" charset="0"/>
              </a:rPr>
              <a:t>Attempt</a:t>
            </a:r>
            <a:endParaRPr lang="en-US" altLang="en-GB" sz="2000" b="1">
              <a:latin typeface="Times New Roman" panose="02020603050405020304" charset="0"/>
              <a:cs typeface="Times New Roman" panose="02020603050405020304" charset="0"/>
            </a:endParaRPr>
          </a:p>
          <a:p>
            <a:pPr algn="ctr"/>
            <a:r>
              <a:rPr lang="en-US" altLang="en-GB" sz="2000" b="1">
                <a:latin typeface="Times New Roman" panose="02020603050405020304" charset="0"/>
                <a:cs typeface="Times New Roman" panose="02020603050405020304" charset="0"/>
              </a:rPr>
              <a:t>Test</a:t>
            </a:r>
            <a:endParaRPr lang="en-US" altLang="en-GB" sz="2000" b="1">
              <a:latin typeface="Times New Roman" panose="02020603050405020304" charset="0"/>
              <a:cs typeface="Times New Roman" panose="02020603050405020304" charset="0"/>
            </a:endParaRPr>
          </a:p>
          <a:p>
            <a:pPr algn="ctr"/>
            <a:r>
              <a:rPr lang="en-US" altLang="en-GB" sz="2000" b="1">
                <a:latin typeface="Times New Roman" panose="02020603050405020304" charset="0"/>
                <a:cs typeface="Times New Roman" panose="02020603050405020304" charset="0"/>
              </a:rPr>
              <a:t>(Student) </a:t>
            </a:r>
            <a:endParaRPr lang="en-GB" altLang="en-US" sz="20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1754536698" name="Picture 1"/>
          <p:cNvPicPr>
            <a:picLocks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88920" y="1315085"/>
            <a:ext cx="7249795" cy="505333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09600" y="190500"/>
            <a:ext cx="9817100" cy="582930"/>
          </a:xfrm>
          <a:prstGeom prst="roundRect">
            <a:avLst/>
          </a:prstGeom>
          <a:solidFill>
            <a:srgbClr val="C2CEBD"/>
          </a:solidFill>
          <a:ln w="12700">
            <a:solidFill>
              <a:srgbClr val="0070C0"/>
            </a:solidFill>
          </a:ln>
          <a:effectLst>
            <a:innerShdw blurRad="114300">
              <a:prstClr val="black"/>
            </a:innerShdw>
          </a:effectLst>
        </p:spPr>
        <p:txBody>
          <a:bodyPr/>
          <a:p>
            <a:pPr algn="ctr"/>
            <a:r>
              <a:rPr lang="en-US" altLang="en-GB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Sequence Diagrams</a:t>
            </a:r>
            <a:endParaRPr lang="en-GB" altLang="en-US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795020" y="1315085"/>
            <a:ext cx="1932305" cy="5053330"/>
          </a:xfrm>
          <a:prstGeom prst="rect">
            <a:avLst/>
          </a:prstGeom>
          <a:blipFill>
            <a:blip r:embed="rId1"/>
          </a:blipFill>
          <a:ln w="19050"/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 rtlCol="0">
            <a:noAutofit/>
          </a:bodyPr>
          <a:p>
            <a:pPr algn="ctr"/>
            <a:endParaRPr lang="en-US" altLang="en-GB" sz="2000" b="1"/>
          </a:p>
          <a:p>
            <a:pPr algn="ctr"/>
            <a:endParaRPr lang="en-US" altLang="en-GB" sz="2000" b="1"/>
          </a:p>
          <a:p>
            <a:pPr algn="ctr"/>
            <a:endParaRPr lang="en-US" altLang="en-GB" sz="2000" b="1"/>
          </a:p>
          <a:p>
            <a:pPr algn="ctr"/>
            <a:endParaRPr lang="en-US" altLang="en-GB" sz="2000" b="1"/>
          </a:p>
          <a:p>
            <a:pPr algn="ctr"/>
            <a:endParaRPr lang="en-US" altLang="en-GB" sz="2000" b="1"/>
          </a:p>
          <a:p>
            <a:pPr algn="ctr"/>
            <a:endParaRPr lang="en-US" altLang="en-GB" sz="2000" b="1"/>
          </a:p>
          <a:p>
            <a:pPr algn="ctr"/>
            <a:r>
              <a:rPr lang="en-US" altLang="en-GB" sz="2000" b="1">
                <a:latin typeface="Times New Roman" panose="02020603050405020304" charset="0"/>
                <a:cs typeface="Times New Roman" panose="02020603050405020304" charset="0"/>
              </a:rPr>
              <a:t>Automatic</a:t>
            </a:r>
            <a:endParaRPr lang="en-US" altLang="en-GB" sz="2000" b="1">
              <a:latin typeface="Times New Roman" panose="02020603050405020304" charset="0"/>
              <a:cs typeface="Times New Roman" panose="02020603050405020304" charset="0"/>
            </a:endParaRPr>
          </a:p>
          <a:p>
            <a:pPr algn="ctr"/>
            <a:r>
              <a:rPr lang="en-US" altLang="en-GB" sz="2000" b="1">
                <a:latin typeface="Times New Roman" panose="02020603050405020304" charset="0"/>
                <a:cs typeface="Times New Roman" panose="02020603050405020304" charset="0"/>
              </a:rPr>
              <a:t>MCQs</a:t>
            </a:r>
            <a:endParaRPr lang="en-US" altLang="en-GB" sz="2000" b="1">
              <a:latin typeface="Times New Roman" panose="02020603050405020304" charset="0"/>
              <a:cs typeface="Times New Roman" panose="02020603050405020304" charset="0"/>
            </a:endParaRPr>
          </a:p>
          <a:p>
            <a:pPr algn="ctr"/>
            <a:r>
              <a:rPr lang="en-US" altLang="en-GB" sz="2000" b="1">
                <a:latin typeface="Times New Roman" panose="02020603050405020304" charset="0"/>
                <a:cs typeface="Times New Roman" panose="02020603050405020304" charset="0"/>
              </a:rPr>
              <a:t>Genetation</a:t>
            </a:r>
            <a:endParaRPr lang="en-US" altLang="en-GB" sz="2000" b="1">
              <a:latin typeface="Times New Roman" panose="02020603050405020304" charset="0"/>
              <a:cs typeface="Times New Roman" panose="02020603050405020304" charset="0"/>
            </a:endParaRPr>
          </a:p>
          <a:p>
            <a:pPr algn="ctr"/>
            <a:r>
              <a:rPr lang="en-US" altLang="en-GB" sz="2000" b="1">
                <a:latin typeface="Times New Roman" panose="02020603050405020304" charset="0"/>
                <a:cs typeface="Times New Roman" panose="02020603050405020304" charset="0"/>
              </a:rPr>
              <a:t>(NLP) </a:t>
            </a:r>
            <a:endParaRPr lang="en-GB" altLang="en-US" sz="20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1535413468" name="Picture 1"/>
          <p:cNvPicPr>
            <a:picLocks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96540" y="1315720"/>
            <a:ext cx="7629525" cy="505269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push dir="u"/>
      </p:transition>
    </mc:Choice>
    <mc:Fallback>
      <p:transition spd="slow">
        <p:push dir="u"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09600" y="190500"/>
            <a:ext cx="9817100" cy="582930"/>
          </a:xfrm>
          <a:prstGeom prst="roundRect">
            <a:avLst/>
          </a:prstGeom>
          <a:solidFill>
            <a:srgbClr val="C2CEBD"/>
          </a:solidFill>
          <a:ln w="12700">
            <a:solidFill>
              <a:srgbClr val="0070C0"/>
            </a:solidFill>
          </a:ln>
          <a:effectLst>
            <a:innerShdw blurRad="114300">
              <a:prstClr val="black"/>
            </a:innerShdw>
          </a:effectLst>
        </p:spPr>
        <p:txBody>
          <a:bodyPr/>
          <a:p>
            <a:pPr algn="ctr"/>
            <a:r>
              <a:rPr lang="en-US" altLang="en-GB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Sequence Diagrams</a:t>
            </a:r>
            <a:endParaRPr lang="en-GB" altLang="en-US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795020" y="1315085"/>
            <a:ext cx="1932305" cy="5053330"/>
          </a:xfrm>
          <a:prstGeom prst="rect">
            <a:avLst/>
          </a:prstGeom>
          <a:blipFill>
            <a:blip r:embed="rId1"/>
          </a:blipFill>
          <a:ln w="19050"/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 rtlCol="0">
            <a:noAutofit/>
          </a:bodyPr>
          <a:p>
            <a:pPr algn="ctr"/>
            <a:endParaRPr lang="en-US" altLang="en-GB" sz="2000" b="1"/>
          </a:p>
          <a:p>
            <a:pPr algn="ctr"/>
            <a:endParaRPr lang="en-US" altLang="en-GB" sz="2000" b="1"/>
          </a:p>
          <a:p>
            <a:pPr algn="ctr"/>
            <a:endParaRPr lang="en-US" altLang="en-GB" sz="2000" b="1"/>
          </a:p>
          <a:p>
            <a:pPr algn="ctr"/>
            <a:endParaRPr lang="en-US" altLang="en-GB" sz="2000" b="1"/>
          </a:p>
          <a:p>
            <a:pPr algn="ctr"/>
            <a:endParaRPr lang="en-US" altLang="en-GB" sz="2000" b="1"/>
          </a:p>
          <a:p>
            <a:pPr algn="ctr"/>
            <a:endParaRPr lang="en-US" altLang="en-GB" sz="2000" b="1"/>
          </a:p>
          <a:p>
            <a:pPr algn="ctr"/>
            <a:r>
              <a:rPr lang="en-US" altLang="en-GB" sz="2000" b="1">
                <a:latin typeface="Times New Roman" panose="02020603050405020304" charset="0"/>
                <a:cs typeface="Times New Roman" panose="02020603050405020304" charset="0"/>
              </a:rPr>
              <a:t>View</a:t>
            </a:r>
            <a:endParaRPr lang="en-US" altLang="en-GB" sz="2000" b="1">
              <a:latin typeface="Times New Roman" panose="02020603050405020304" charset="0"/>
              <a:cs typeface="Times New Roman" panose="02020603050405020304" charset="0"/>
            </a:endParaRPr>
          </a:p>
          <a:p>
            <a:pPr algn="ctr"/>
            <a:r>
              <a:rPr lang="en-US" altLang="en-GB" sz="2000" b="1">
                <a:latin typeface="Times New Roman" panose="02020603050405020304" charset="0"/>
                <a:cs typeface="Times New Roman" panose="02020603050405020304" charset="0"/>
              </a:rPr>
              <a:t>Test </a:t>
            </a:r>
            <a:endParaRPr lang="en-US" altLang="en-GB" sz="2000" b="1">
              <a:latin typeface="Times New Roman" panose="02020603050405020304" charset="0"/>
              <a:cs typeface="Times New Roman" panose="02020603050405020304" charset="0"/>
            </a:endParaRPr>
          </a:p>
          <a:p>
            <a:pPr algn="ctr"/>
            <a:r>
              <a:rPr lang="en-US" altLang="en-GB" sz="2000" b="1">
                <a:latin typeface="Times New Roman" panose="02020603050405020304" charset="0"/>
                <a:cs typeface="Times New Roman" panose="02020603050405020304" charset="0"/>
              </a:rPr>
              <a:t>History </a:t>
            </a:r>
            <a:endParaRPr lang="en-GB" altLang="en-US" sz="20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1349677532" name="Picture 1"/>
          <p:cNvPicPr>
            <a:picLocks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33370" y="1315085"/>
            <a:ext cx="7466330" cy="51212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09600" y="190500"/>
            <a:ext cx="9817100" cy="582930"/>
          </a:xfrm>
          <a:prstGeom prst="roundRect">
            <a:avLst/>
          </a:prstGeom>
          <a:solidFill>
            <a:srgbClr val="C2CEBD"/>
          </a:solidFill>
          <a:ln w="12700">
            <a:solidFill>
              <a:srgbClr val="0070C0"/>
            </a:solidFill>
          </a:ln>
          <a:effectLst>
            <a:innerShdw blurRad="114300">
              <a:prstClr val="black"/>
            </a:innerShdw>
          </a:effectLst>
        </p:spPr>
        <p:txBody>
          <a:bodyPr/>
          <a:p>
            <a:pPr algn="ctr"/>
            <a:r>
              <a:rPr lang="en-US" altLang="en-GB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Sequence Diagrams</a:t>
            </a:r>
            <a:endParaRPr lang="en-GB" altLang="en-US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795020" y="1315085"/>
            <a:ext cx="1932305" cy="5053330"/>
          </a:xfrm>
          <a:prstGeom prst="rect">
            <a:avLst/>
          </a:prstGeom>
          <a:blipFill>
            <a:blip r:embed="rId1"/>
          </a:blipFill>
          <a:ln w="19050"/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 rtlCol="0">
            <a:noAutofit/>
          </a:bodyPr>
          <a:p>
            <a:pPr algn="ctr"/>
            <a:endParaRPr lang="en-US" altLang="en-GB" sz="2000" b="1"/>
          </a:p>
          <a:p>
            <a:pPr algn="ctr"/>
            <a:endParaRPr lang="en-US" altLang="en-GB" sz="2000" b="1"/>
          </a:p>
          <a:p>
            <a:pPr algn="ctr"/>
            <a:endParaRPr lang="en-US" altLang="en-GB" sz="2000" b="1"/>
          </a:p>
          <a:p>
            <a:pPr algn="ctr"/>
            <a:endParaRPr lang="en-US" altLang="en-GB" sz="2000" b="1"/>
          </a:p>
          <a:p>
            <a:pPr algn="ctr"/>
            <a:endParaRPr lang="en-US" altLang="en-GB" sz="2000" b="1"/>
          </a:p>
          <a:p>
            <a:pPr algn="ctr"/>
            <a:endParaRPr lang="en-US" altLang="en-GB" sz="2000" b="1"/>
          </a:p>
          <a:p>
            <a:pPr algn="ctr"/>
            <a:endParaRPr lang="en-US" altLang="en-GB" sz="2000" b="1"/>
          </a:p>
          <a:p>
            <a:pPr algn="ctr"/>
            <a:r>
              <a:rPr lang="en-US" altLang="en-GB" sz="2000" b="1">
                <a:latin typeface="Times New Roman" panose="02020603050405020304" charset="0"/>
                <a:cs typeface="Times New Roman" panose="02020603050405020304" charset="0"/>
              </a:rPr>
              <a:t>Logout </a:t>
            </a:r>
            <a:endParaRPr lang="en-GB" altLang="en-US" sz="20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548836563" name="Picture 1"/>
          <p:cNvPicPr>
            <a:picLocks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16555" y="1315085"/>
            <a:ext cx="6974840" cy="505333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09600" y="190500"/>
            <a:ext cx="9817100" cy="582930"/>
          </a:xfrm>
          <a:prstGeom prst="roundRect">
            <a:avLst/>
          </a:prstGeom>
          <a:solidFill>
            <a:srgbClr val="C2CEBD"/>
          </a:solidFill>
          <a:ln w="12700">
            <a:solidFill>
              <a:srgbClr val="0070C0"/>
            </a:solidFill>
          </a:ln>
          <a:effectLst>
            <a:innerShdw blurRad="114300">
              <a:prstClr val="black"/>
            </a:innerShdw>
          </a:effectLst>
        </p:spPr>
        <p:txBody>
          <a:bodyPr/>
          <a:p>
            <a:pPr algn="ctr"/>
            <a:r>
              <a:rPr lang="en-US" altLang="en-GB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Sequence Diagrams</a:t>
            </a:r>
            <a:endParaRPr lang="en-GB" altLang="en-US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487045" y="1174115"/>
            <a:ext cx="1805305" cy="5385435"/>
          </a:xfrm>
          <a:prstGeom prst="rect">
            <a:avLst/>
          </a:prstGeom>
          <a:blipFill>
            <a:blip r:embed="rId1"/>
          </a:blipFill>
          <a:ln w="19050"/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 rtlCol="0">
            <a:noAutofit/>
          </a:bodyPr>
          <a:p>
            <a:pPr algn="ctr"/>
            <a:endParaRPr lang="en-US" altLang="en-GB" sz="2000" b="1"/>
          </a:p>
          <a:p>
            <a:pPr algn="ctr"/>
            <a:endParaRPr lang="en-US" altLang="en-GB" sz="2000" b="1"/>
          </a:p>
          <a:p>
            <a:pPr algn="ctr"/>
            <a:endParaRPr lang="en-US" altLang="en-GB" sz="2000" b="1"/>
          </a:p>
          <a:p>
            <a:pPr algn="ctr"/>
            <a:endParaRPr lang="en-US" altLang="en-GB" sz="2000" b="1"/>
          </a:p>
          <a:p>
            <a:pPr algn="ctr"/>
            <a:endParaRPr lang="en-US" altLang="en-GB" sz="2000" b="1"/>
          </a:p>
          <a:p>
            <a:pPr algn="ctr"/>
            <a:endParaRPr lang="en-US" altLang="en-GB" sz="2000" b="1"/>
          </a:p>
          <a:p>
            <a:pPr algn="ctr"/>
            <a:r>
              <a:rPr lang="en-US" altLang="en-GB" sz="2000" b="1">
                <a:latin typeface="Times New Roman" panose="02020603050405020304" charset="0"/>
                <a:cs typeface="Times New Roman" panose="02020603050405020304" charset="0"/>
              </a:rPr>
              <a:t>Overall</a:t>
            </a:r>
            <a:endParaRPr lang="en-US" altLang="en-GB" sz="2000" b="1">
              <a:latin typeface="Times New Roman" panose="02020603050405020304" charset="0"/>
              <a:cs typeface="Times New Roman" panose="02020603050405020304" charset="0"/>
            </a:endParaRPr>
          </a:p>
          <a:p>
            <a:pPr algn="ctr"/>
            <a:r>
              <a:rPr lang="en-US" altLang="en-GB" sz="2000" b="1">
                <a:latin typeface="Times New Roman" panose="02020603050405020304" charset="0"/>
                <a:cs typeface="Times New Roman" panose="02020603050405020304" charset="0"/>
              </a:rPr>
              <a:t>System</a:t>
            </a:r>
            <a:endParaRPr lang="en-US" altLang="en-GB" sz="2000" b="1">
              <a:latin typeface="Times New Roman" panose="02020603050405020304" charset="0"/>
              <a:cs typeface="Times New Roman" panose="02020603050405020304" charset="0"/>
            </a:endParaRPr>
          </a:p>
          <a:p>
            <a:pPr algn="ctr"/>
            <a:r>
              <a:rPr lang="en-US" altLang="en-GB" sz="2000" b="1">
                <a:latin typeface="Times New Roman" panose="02020603050405020304" charset="0"/>
                <a:cs typeface="Times New Roman" panose="02020603050405020304" charset="0"/>
              </a:rPr>
              <a:t>Sequence </a:t>
            </a:r>
            <a:endParaRPr lang="en-US" altLang="en-GB" sz="2000" b="1">
              <a:latin typeface="Times New Roman" panose="02020603050405020304" charset="0"/>
              <a:cs typeface="Times New Roman" panose="02020603050405020304" charset="0"/>
            </a:endParaRPr>
          </a:p>
          <a:p>
            <a:pPr algn="ctr"/>
            <a:r>
              <a:rPr lang="en-US" altLang="en-GB" sz="2000" b="1">
                <a:latin typeface="Times New Roman" panose="02020603050405020304" charset="0"/>
                <a:cs typeface="Times New Roman" panose="02020603050405020304" charset="0"/>
              </a:rPr>
              <a:t>Diagram</a:t>
            </a:r>
            <a:endParaRPr lang="en-US" altLang="en-GB" sz="2000" b="1">
              <a:latin typeface="Times New Roman" panose="02020603050405020304" charset="0"/>
              <a:cs typeface="Times New Roman" panose="02020603050405020304" charset="0"/>
            </a:endParaRPr>
          </a:p>
          <a:p>
            <a:pPr algn="ctr"/>
            <a:endParaRPr lang="en-US" altLang="en-GB" sz="20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466629275" name="Picture 1"/>
          <p:cNvPicPr>
            <a:picLocks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3160" y="1174750"/>
            <a:ext cx="8148955" cy="5384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push dir="u"/>
      </p:transition>
    </mc:Choice>
    <mc:Fallback>
      <p:transition spd="slow">
        <p:push dir="u"/>
      </p:transition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09600" y="190500"/>
            <a:ext cx="9817100" cy="582930"/>
          </a:xfrm>
          <a:prstGeom prst="roundRect">
            <a:avLst/>
          </a:prstGeom>
          <a:solidFill>
            <a:srgbClr val="C2CEBD"/>
          </a:solidFill>
          <a:ln w="12700">
            <a:solidFill>
              <a:srgbClr val="0070C0"/>
            </a:solidFill>
          </a:ln>
          <a:effectLst>
            <a:innerShdw blurRad="114300">
              <a:prstClr val="black"/>
            </a:innerShdw>
          </a:effectLst>
        </p:spPr>
        <p:txBody>
          <a:bodyPr/>
          <a:p>
            <a:pPr algn="ctr"/>
            <a:r>
              <a:rPr lang="en-US" altLang="en-GB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Architecture Design Diagrams</a:t>
            </a:r>
            <a:endParaRPr lang="en-GB" altLang="en-US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795020" y="1026160"/>
            <a:ext cx="1932305" cy="5737225"/>
          </a:xfrm>
          <a:prstGeom prst="rect">
            <a:avLst/>
          </a:prstGeom>
          <a:blipFill>
            <a:blip r:embed="rId1"/>
          </a:blipFill>
          <a:ln w="19050"/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 rtlCol="0">
            <a:noAutofit/>
          </a:bodyPr>
          <a:p>
            <a:pPr algn="ctr"/>
            <a:endParaRPr lang="en-US" altLang="en-GB"/>
          </a:p>
          <a:p>
            <a:pPr algn="ctr"/>
            <a:endParaRPr lang="en-US" altLang="en-GB"/>
          </a:p>
          <a:p>
            <a:pPr algn="ctr"/>
            <a:endParaRPr lang="en-US" altLang="en-GB"/>
          </a:p>
          <a:p>
            <a:pPr algn="ctr"/>
            <a:endParaRPr lang="en-US" altLang="en-GB"/>
          </a:p>
          <a:p>
            <a:pPr algn="ctr"/>
            <a:endParaRPr lang="en-US" altLang="en-GB"/>
          </a:p>
          <a:p>
            <a:pPr algn="ctr"/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The </a:t>
            </a:r>
            <a:r>
              <a:rPr lang="en-US" altLang="en-GB" b="1">
                <a:latin typeface="Times New Roman" panose="02020603050405020304" charset="0"/>
                <a:cs typeface="Times New Roman" panose="02020603050405020304" charset="0"/>
              </a:rPr>
              <a:t>high-level structure</a:t>
            </a:r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 of the MCQ-Based Test System is described in the Architecture Design Diagram. 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308592196" name="Picture 10" descr="C:\Users\Cuty computer\Downloads\ADesignD.pngADesignD"/>
          <p:cNvPicPr>
            <a:picLocks noChangeAspect="1"/>
          </p:cNvPicPr>
          <p:nvPr>
            <p:ph idx="1"/>
          </p:nvPr>
        </p:nvPicPr>
        <p:blipFill>
          <a:blip r:embed="rId2"/>
          <a:srcRect l="1603" t="1104" r="1457" b="1941"/>
          <a:stretch>
            <a:fillRect/>
          </a:stretch>
        </p:blipFill>
        <p:spPr>
          <a:xfrm>
            <a:off x="3885565" y="1026795"/>
            <a:ext cx="4224655" cy="573659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09600" y="190500"/>
            <a:ext cx="9817100" cy="582930"/>
          </a:xfrm>
          <a:prstGeom prst="roundRect">
            <a:avLst/>
          </a:prstGeom>
          <a:solidFill>
            <a:srgbClr val="C2CEBD"/>
          </a:solidFill>
          <a:ln w="12700">
            <a:solidFill>
              <a:srgbClr val="0070C0"/>
            </a:solidFill>
          </a:ln>
          <a:effectLst>
            <a:innerShdw blurRad="114300">
              <a:prstClr val="black"/>
            </a:innerShdw>
          </a:effectLst>
        </p:spPr>
        <p:txBody>
          <a:bodyPr/>
          <a:p>
            <a:pPr algn="ctr"/>
            <a:r>
              <a:rPr lang="en-US" altLang="en-GB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Class Diagram</a:t>
            </a:r>
            <a:endParaRPr lang="en-GB" altLang="en-US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795020" y="1026160"/>
            <a:ext cx="1932305" cy="5737225"/>
          </a:xfrm>
          <a:prstGeom prst="rect">
            <a:avLst/>
          </a:prstGeom>
          <a:blipFill>
            <a:blip r:embed="rId1"/>
          </a:blipFill>
          <a:ln w="19050"/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 rtlCol="0">
            <a:noAutofit/>
          </a:bodyPr>
          <a:p>
            <a:pPr algn="ctr"/>
            <a:endParaRPr lang="en-US" altLang="en-GB"/>
          </a:p>
          <a:p>
            <a:pPr algn="ctr"/>
            <a:endParaRPr lang="en-US" altLang="en-GB"/>
          </a:p>
          <a:p>
            <a:pPr algn="ctr"/>
            <a:endParaRPr lang="en-US" altLang="en-GB"/>
          </a:p>
          <a:p>
            <a:pPr algn="ctr"/>
            <a:endParaRPr lang="en-US" altLang="en-GB"/>
          </a:p>
          <a:p>
            <a:pPr algn="ctr"/>
            <a:endParaRPr lang="en-US" altLang="en-GB"/>
          </a:p>
          <a:p>
            <a:pPr algn="ctr"/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The </a:t>
            </a:r>
            <a:r>
              <a:rPr lang="en-US" altLang="en-GB" b="1">
                <a:latin typeface="Times New Roman" panose="02020603050405020304" charset="0"/>
                <a:cs typeface="Times New Roman" panose="02020603050405020304" charset="0"/>
              </a:rPr>
              <a:t>Class Diagram </a:t>
            </a:r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represents the object-oriented structure of the MCQ-Based Test System by defining its key classes, attributes, and relationships. 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4" name="Content Placeholder 3" descr="ClassDiagram"/>
          <p:cNvPicPr>
            <a:picLocks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27120" y="1025525"/>
            <a:ext cx="5923280" cy="573786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eelOff"/>
      </p:transition>
    </mc:Choice>
    <mc:Fallback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09600" y="190500"/>
            <a:ext cx="9817100" cy="582930"/>
          </a:xfrm>
          <a:prstGeom prst="roundRect">
            <a:avLst/>
          </a:prstGeom>
          <a:solidFill>
            <a:srgbClr val="C2CEBD"/>
          </a:solidFill>
          <a:ln w="12700">
            <a:solidFill>
              <a:srgbClr val="0070C0"/>
            </a:solidFill>
          </a:ln>
          <a:effectLst>
            <a:innerShdw blurRad="114300">
              <a:prstClr val="black"/>
            </a:innerShdw>
          </a:effectLst>
        </p:spPr>
        <p:txBody>
          <a:bodyPr/>
          <a:p>
            <a:pPr algn="ctr"/>
            <a:r>
              <a:rPr lang="en-US" altLang="en-GB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Database Diagram</a:t>
            </a:r>
            <a:endParaRPr lang="en-GB" altLang="en-US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795020" y="1026160"/>
            <a:ext cx="1932305" cy="5737225"/>
          </a:xfrm>
          <a:prstGeom prst="rect">
            <a:avLst/>
          </a:prstGeom>
          <a:blipFill>
            <a:blip r:embed="rId1"/>
          </a:blipFill>
          <a:ln w="19050"/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 rtlCol="0">
            <a:noAutofit/>
          </a:bodyPr>
          <a:p>
            <a:pPr algn="ctr"/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pPr algn="ctr"/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pPr algn="ctr"/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pPr algn="ctr"/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pPr algn="ctr"/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pPr algn="ctr"/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The </a:t>
            </a:r>
            <a:r>
              <a:rPr lang="en-US" altLang="en-GB" b="1">
                <a:latin typeface="Times New Roman" panose="02020603050405020304" charset="0"/>
                <a:cs typeface="Times New Roman" panose="02020603050405020304" charset="0"/>
              </a:rPr>
              <a:t>Database Design</a:t>
            </a:r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 of the MCQ-Based Test System defines structured data storage, ensuring efficient retrieval and management of users, questions, tests, and results.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4" name="Content Placeholder 3" descr="Database"/>
          <p:cNvPicPr>
            <a:picLocks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77895" y="1026160"/>
            <a:ext cx="5939790" cy="573786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eelOff"/>
      </p:transition>
    </mc:Choice>
    <mc:Fallback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09600" y="190500"/>
            <a:ext cx="9817100" cy="582930"/>
          </a:xfrm>
          <a:prstGeom prst="roundRect">
            <a:avLst/>
          </a:prstGeom>
          <a:solidFill>
            <a:srgbClr val="C2CEBD"/>
          </a:solidFill>
          <a:ln w="12700">
            <a:solidFill>
              <a:srgbClr val="0070C0"/>
            </a:solidFill>
          </a:ln>
          <a:effectLst>
            <a:innerShdw blurRad="114300">
              <a:prstClr val="black"/>
            </a:innerShdw>
          </a:effectLst>
        </p:spPr>
        <p:txBody>
          <a:bodyPr/>
          <a:p>
            <a:pPr algn="ctr"/>
            <a:r>
              <a:rPr lang="en-US" altLang="en-GB" b="1">
                <a:latin typeface="Times New Roman" panose="02020603050405020304" charset="0"/>
                <a:cs typeface="Times New Roman" panose="02020603050405020304" charset="0"/>
              </a:rPr>
              <a:t>GUI Interface</a:t>
            </a:r>
            <a:endParaRPr lang="en-US" altLang="en-GB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795020" y="1315085"/>
            <a:ext cx="1932305" cy="5053330"/>
          </a:xfrm>
          <a:prstGeom prst="rect">
            <a:avLst/>
          </a:prstGeom>
          <a:blipFill rotWithShape="1">
            <a:blip r:embed="rId1"/>
            <a:tile tx="0" ty="0" sx="100000" sy="100000" flip="none" algn="tl"/>
          </a:blipFill>
          <a:ln w="19050"/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 rtlCol="0">
            <a:noAutofit/>
          </a:bodyPr>
          <a:p>
            <a:pPr algn="ctr"/>
            <a:endParaRPr lang="en-US" altLang="en-GB" sz="2000" b="1"/>
          </a:p>
          <a:p>
            <a:pPr algn="ctr"/>
            <a:endParaRPr lang="en-US" altLang="en-GB" sz="2000" b="1"/>
          </a:p>
          <a:p>
            <a:pPr algn="ctr"/>
            <a:endParaRPr lang="en-US" altLang="en-GB" sz="2000" b="1"/>
          </a:p>
          <a:p>
            <a:pPr algn="ctr"/>
            <a:endParaRPr lang="en-US" altLang="en-GB" sz="2000" b="1"/>
          </a:p>
          <a:p>
            <a:pPr algn="ctr"/>
            <a:endParaRPr lang="en-US" altLang="en-GB" sz="2000" b="1"/>
          </a:p>
          <a:p>
            <a:pPr algn="ctr"/>
            <a:endParaRPr lang="en-US" altLang="en-GB" sz="2000" b="1"/>
          </a:p>
          <a:p>
            <a:pPr algn="ctr"/>
            <a:endParaRPr lang="en-US" altLang="en-GB" sz="2000" b="1">
              <a:latin typeface="Times New Roman" panose="02020603050405020304" charset="0"/>
              <a:cs typeface="Times New Roman" panose="02020603050405020304" charset="0"/>
            </a:endParaRPr>
          </a:p>
          <a:p>
            <a:pPr algn="ctr"/>
            <a:r>
              <a:rPr lang="en-US" altLang="en-GB" sz="2000" b="1">
                <a:latin typeface="Times New Roman" panose="02020603050405020304" charset="0"/>
                <a:cs typeface="Times New Roman" panose="02020603050405020304" charset="0"/>
              </a:rPr>
              <a:t>Registration</a:t>
            </a:r>
            <a:endParaRPr lang="en-US" altLang="en-GB" sz="2000" b="1">
              <a:latin typeface="Times New Roman" panose="02020603050405020304" charset="0"/>
              <a:cs typeface="Times New Roman" panose="02020603050405020304" charset="0"/>
            </a:endParaRPr>
          </a:p>
          <a:p>
            <a:pPr algn="ctr"/>
            <a:endParaRPr lang="en-US" altLang="en-GB" sz="20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61310" y="1315085"/>
            <a:ext cx="7445375" cy="505269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09600" y="190500"/>
            <a:ext cx="9817100" cy="582930"/>
          </a:xfrm>
          <a:prstGeom prst="roundRect">
            <a:avLst/>
          </a:prstGeom>
          <a:solidFill>
            <a:srgbClr val="C2CEBD"/>
          </a:solidFill>
          <a:ln w="12700">
            <a:solidFill>
              <a:srgbClr val="0070C0"/>
            </a:solidFill>
          </a:ln>
          <a:effectLst>
            <a:innerShdw blurRad="114300">
              <a:prstClr val="black"/>
            </a:innerShdw>
          </a:effectLst>
        </p:spPr>
        <p:txBody>
          <a:bodyPr/>
          <a:p>
            <a:pPr algn="ctr"/>
            <a:r>
              <a:rPr lang="en-US" altLang="en-GB" b="1">
                <a:latin typeface="Times New Roman" panose="02020603050405020304" charset="0"/>
                <a:cs typeface="Times New Roman" panose="02020603050405020304" charset="0"/>
              </a:rPr>
              <a:t>GUI Interface</a:t>
            </a:r>
            <a:endParaRPr lang="en-US" altLang="en-GB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795020" y="1315085"/>
            <a:ext cx="1932305" cy="5053330"/>
          </a:xfrm>
          <a:prstGeom prst="rect">
            <a:avLst/>
          </a:prstGeom>
          <a:blipFill>
            <a:blip r:embed="rId1"/>
          </a:blipFill>
          <a:ln w="19050"/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 rtlCol="0">
            <a:noAutofit/>
          </a:bodyPr>
          <a:p>
            <a:pPr algn="ctr"/>
            <a:endParaRPr lang="en-US" altLang="en-GB" sz="2000" b="1"/>
          </a:p>
          <a:p>
            <a:pPr algn="ctr"/>
            <a:endParaRPr lang="en-US" altLang="en-GB" sz="2000" b="1"/>
          </a:p>
          <a:p>
            <a:pPr algn="ctr"/>
            <a:endParaRPr lang="en-US" altLang="en-GB" sz="2000" b="1"/>
          </a:p>
          <a:p>
            <a:pPr algn="ctr"/>
            <a:endParaRPr lang="en-US" altLang="en-GB" sz="2000" b="1"/>
          </a:p>
          <a:p>
            <a:pPr algn="ctr"/>
            <a:endParaRPr lang="en-US" altLang="en-GB" sz="2000" b="1"/>
          </a:p>
          <a:p>
            <a:pPr algn="ctr"/>
            <a:endParaRPr lang="en-US" altLang="en-GB" sz="2000" b="1"/>
          </a:p>
          <a:p>
            <a:pPr algn="ctr"/>
            <a:endParaRPr lang="en-US" altLang="en-GB" sz="2000" b="1">
              <a:latin typeface="Times New Roman" panose="02020603050405020304" charset="0"/>
              <a:cs typeface="Times New Roman" panose="02020603050405020304" charset="0"/>
            </a:endParaRPr>
          </a:p>
          <a:p>
            <a:pPr algn="ctr"/>
            <a:r>
              <a:rPr lang="en-US" altLang="en-GB" sz="2000" b="1">
                <a:latin typeface="Times New Roman" panose="02020603050405020304" charset="0"/>
                <a:cs typeface="Times New Roman" panose="02020603050405020304" charset="0"/>
              </a:rPr>
              <a:t>Login </a:t>
            </a:r>
            <a:endParaRPr lang="en-US" altLang="en-GB" sz="2000" b="1">
              <a:latin typeface="Times New Roman" panose="02020603050405020304" charset="0"/>
              <a:cs typeface="Times New Roman" panose="02020603050405020304" charset="0"/>
            </a:endParaRPr>
          </a:p>
          <a:p>
            <a:pPr algn="ctr"/>
            <a:r>
              <a:rPr lang="en-US" altLang="en-GB" sz="2000" b="1">
                <a:latin typeface="Times New Roman" panose="02020603050405020304" charset="0"/>
                <a:cs typeface="Times New Roman" panose="02020603050405020304" charset="0"/>
              </a:rPr>
              <a:t>Interface</a:t>
            </a:r>
            <a:endParaRPr lang="en-US" altLang="en-GB" sz="20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42260" y="1315085"/>
            <a:ext cx="7378065" cy="505333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eelOff"/>
      </p:transition>
    </mc:Choice>
    <mc:Fallback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09600" y="190500"/>
            <a:ext cx="9817100" cy="582930"/>
          </a:xfrm>
          <a:prstGeom prst="roundRect">
            <a:avLst/>
          </a:prstGeom>
          <a:solidFill>
            <a:srgbClr val="C2CEBD"/>
          </a:solidFill>
          <a:ln w="12700">
            <a:solidFill>
              <a:srgbClr val="0070C0"/>
            </a:solidFill>
          </a:ln>
          <a:effectLst>
            <a:innerShdw blurRad="114300">
              <a:prstClr val="black"/>
            </a:innerShdw>
          </a:effectLst>
        </p:spPr>
        <p:txBody>
          <a:bodyPr/>
          <a:p>
            <a:pPr algn="ctr"/>
            <a:r>
              <a:rPr lang="en-US" altLang="en-GB" b="1">
                <a:latin typeface="Times New Roman" panose="02020603050405020304" charset="0"/>
                <a:cs typeface="Times New Roman" panose="02020603050405020304" charset="0"/>
              </a:rPr>
              <a:t>GUI Interface</a:t>
            </a:r>
            <a:endParaRPr lang="en-US" altLang="en-GB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795020" y="1315085"/>
            <a:ext cx="1932305" cy="5053330"/>
          </a:xfrm>
          <a:prstGeom prst="rect">
            <a:avLst/>
          </a:prstGeom>
          <a:blipFill>
            <a:blip r:embed="rId1"/>
          </a:blipFill>
          <a:ln w="19050"/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 rtlCol="0">
            <a:noAutofit/>
          </a:bodyPr>
          <a:p>
            <a:pPr algn="ctr"/>
            <a:endParaRPr lang="en-US" altLang="en-GB" sz="2000" b="1"/>
          </a:p>
          <a:p>
            <a:pPr algn="ctr"/>
            <a:endParaRPr lang="en-US" altLang="en-GB" sz="2000" b="1"/>
          </a:p>
          <a:p>
            <a:pPr algn="ctr"/>
            <a:endParaRPr lang="en-US" altLang="en-GB" sz="2000" b="1"/>
          </a:p>
          <a:p>
            <a:pPr algn="ctr"/>
            <a:endParaRPr lang="en-US" altLang="en-GB" sz="2000" b="1"/>
          </a:p>
          <a:p>
            <a:pPr algn="ctr"/>
            <a:endParaRPr lang="en-US" altLang="en-GB" sz="2000" b="1"/>
          </a:p>
          <a:p>
            <a:pPr algn="ctr"/>
            <a:endParaRPr lang="en-US" altLang="en-GB" sz="2000" b="1">
              <a:latin typeface="Times New Roman" panose="02020603050405020304" charset="0"/>
              <a:cs typeface="Times New Roman" panose="02020603050405020304" charset="0"/>
            </a:endParaRPr>
          </a:p>
          <a:p>
            <a:pPr algn="ctr"/>
            <a:r>
              <a:rPr lang="en-US" altLang="en-GB" sz="2000" b="1">
                <a:latin typeface="Times New Roman" panose="02020603050405020304" charset="0"/>
                <a:cs typeface="Times New Roman" panose="02020603050405020304" charset="0"/>
              </a:rPr>
              <a:t>Student</a:t>
            </a:r>
            <a:endParaRPr lang="en-US" altLang="en-GB" sz="2000" b="1">
              <a:latin typeface="Times New Roman" panose="02020603050405020304" charset="0"/>
              <a:cs typeface="Times New Roman" panose="02020603050405020304" charset="0"/>
            </a:endParaRPr>
          </a:p>
          <a:p>
            <a:pPr algn="ctr"/>
            <a:r>
              <a:rPr lang="en-US" altLang="en-GB" sz="2000" b="1">
                <a:latin typeface="Times New Roman" panose="02020603050405020304" charset="0"/>
                <a:cs typeface="Times New Roman" panose="02020603050405020304" charset="0"/>
              </a:rPr>
              <a:t>Dashboard </a:t>
            </a:r>
            <a:endParaRPr lang="en-US" altLang="en-GB" sz="20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5" name="Content Placeholder 4"/>
          <p:cNvPicPr>
            <a:picLocks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32735" y="1315720"/>
            <a:ext cx="7286625" cy="505269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eelOff"/>
      </p:transition>
    </mc:Choice>
    <mc:Fallback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09600" y="190500"/>
            <a:ext cx="9817100" cy="582930"/>
          </a:xfrm>
          <a:prstGeom prst="roundRect">
            <a:avLst/>
          </a:prstGeom>
          <a:solidFill>
            <a:srgbClr val="C2CEBD"/>
          </a:solidFill>
          <a:ln w="12700">
            <a:solidFill>
              <a:srgbClr val="0070C0"/>
            </a:solidFill>
          </a:ln>
          <a:effectLst>
            <a:innerShdw blurRad="114300">
              <a:prstClr val="black"/>
            </a:innerShdw>
          </a:effectLst>
        </p:spPr>
        <p:txBody>
          <a:bodyPr/>
          <a:p>
            <a:pPr algn="ctr"/>
            <a:r>
              <a:rPr lang="en-US" altLang="en-GB" b="1">
                <a:latin typeface="Times New Roman" panose="02020603050405020304" charset="0"/>
                <a:cs typeface="Times New Roman" panose="02020603050405020304" charset="0"/>
              </a:rPr>
              <a:t>GUI Interface</a:t>
            </a:r>
            <a:endParaRPr lang="en-US" altLang="en-GB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795020" y="1315085"/>
            <a:ext cx="1932305" cy="5053330"/>
          </a:xfrm>
          <a:prstGeom prst="rect">
            <a:avLst/>
          </a:prstGeom>
          <a:blipFill>
            <a:blip r:embed="rId1"/>
          </a:blipFill>
          <a:ln w="19050"/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 rtlCol="0">
            <a:noAutofit/>
          </a:bodyPr>
          <a:p>
            <a:pPr algn="ctr"/>
            <a:endParaRPr lang="en-US" altLang="en-GB" sz="2000" b="1"/>
          </a:p>
          <a:p>
            <a:pPr algn="ctr"/>
            <a:endParaRPr lang="en-US" altLang="en-GB" sz="2000" b="1"/>
          </a:p>
          <a:p>
            <a:pPr algn="ctr"/>
            <a:endParaRPr lang="en-US" altLang="en-GB" sz="2000" b="1"/>
          </a:p>
          <a:p>
            <a:pPr algn="ctr"/>
            <a:endParaRPr lang="en-US" altLang="en-GB" sz="2000" b="1"/>
          </a:p>
          <a:p>
            <a:pPr algn="ctr"/>
            <a:endParaRPr lang="en-US" altLang="en-GB" sz="2000" b="1"/>
          </a:p>
          <a:p>
            <a:pPr algn="ctr"/>
            <a:endParaRPr lang="en-US" altLang="en-GB" sz="2000" b="1">
              <a:latin typeface="Times New Roman" panose="02020603050405020304" charset="0"/>
              <a:cs typeface="Times New Roman" panose="02020603050405020304" charset="0"/>
            </a:endParaRPr>
          </a:p>
          <a:p>
            <a:pPr algn="ctr"/>
            <a:r>
              <a:rPr lang="en-US" altLang="en-GB" sz="2000" b="1">
                <a:latin typeface="Times New Roman" panose="02020603050405020304" charset="0"/>
                <a:cs typeface="Times New Roman" panose="02020603050405020304" charset="0"/>
              </a:rPr>
              <a:t>Student </a:t>
            </a:r>
            <a:endParaRPr lang="en-US" altLang="en-GB" sz="2000" b="1">
              <a:latin typeface="Times New Roman" panose="02020603050405020304" charset="0"/>
              <a:cs typeface="Times New Roman" panose="02020603050405020304" charset="0"/>
            </a:endParaRPr>
          </a:p>
          <a:p>
            <a:pPr algn="ctr"/>
            <a:r>
              <a:rPr lang="en-US" altLang="en-GB" sz="2000" b="1">
                <a:latin typeface="Times New Roman" panose="02020603050405020304" charset="0"/>
                <a:cs typeface="Times New Roman" panose="02020603050405020304" charset="0"/>
              </a:rPr>
              <a:t>Starting</a:t>
            </a:r>
            <a:endParaRPr lang="en-US" altLang="en-GB" sz="2000" b="1">
              <a:latin typeface="Times New Roman" panose="02020603050405020304" charset="0"/>
              <a:cs typeface="Times New Roman" panose="02020603050405020304" charset="0"/>
            </a:endParaRPr>
          </a:p>
          <a:p>
            <a:pPr algn="ctr"/>
            <a:r>
              <a:rPr lang="en-US" altLang="en-GB" sz="2000" b="1">
                <a:latin typeface="Times New Roman" panose="02020603050405020304" charset="0"/>
                <a:cs typeface="Times New Roman" panose="02020603050405020304" charset="0"/>
              </a:rPr>
              <a:t>Test </a:t>
            </a:r>
            <a:endParaRPr lang="en-US" altLang="en-GB" sz="2000" b="1">
              <a:latin typeface="Times New Roman" panose="02020603050405020304" charset="0"/>
              <a:cs typeface="Times New Roman" panose="02020603050405020304" charset="0"/>
            </a:endParaRPr>
          </a:p>
          <a:p>
            <a:pPr algn="ctr"/>
            <a:r>
              <a:rPr lang="en-US" altLang="en-GB" sz="2000" b="1">
                <a:latin typeface="Times New Roman" panose="02020603050405020304" charset="0"/>
                <a:cs typeface="Times New Roman" panose="02020603050405020304" charset="0"/>
              </a:rPr>
              <a:t>Interface</a:t>
            </a:r>
            <a:endParaRPr lang="en-US" altLang="en-GB" sz="2000" b="1">
              <a:latin typeface="Times New Roman" panose="02020603050405020304" charset="0"/>
              <a:cs typeface="Times New Roman" panose="02020603050405020304" charset="0"/>
            </a:endParaRPr>
          </a:p>
          <a:p>
            <a:pPr algn="ctr"/>
            <a:endParaRPr lang="en-US" altLang="en-GB" sz="20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22575" y="1315085"/>
            <a:ext cx="7483475" cy="505269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09600" y="190500"/>
            <a:ext cx="9817100" cy="582930"/>
          </a:xfrm>
          <a:prstGeom prst="roundRect">
            <a:avLst/>
          </a:prstGeom>
          <a:solidFill>
            <a:srgbClr val="C2CEBD"/>
          </a:solidFill>
          <a:ln w="12700">
            <a:solidFill>
              <a:srgbClr val="0070C0"/>
            </a:solidFill>
          </a:ln>
          <a:effectLst>
            <a:innerShdw blurRad="114300">
              <a:prstClr val="black"/>
            </a:innerShdw>
          </a:effectLst>
        </p:spPr>
        <p:txBody>
          <a:bodyPr/>
          <a:p>
            <a:pPr algn="ctr"/>
            <a:r>
              <a:rPr lang="en-US" altLang="en-GB" b="1">
                <a:latin typeface="Times New Roman" panose="02020603050405020304" charset="0"/>
                <a:cs typeface="Times New Roman" panose="02020603050405020304" charset="0"/>
              </a:rPr>
              <a:t>GUI Interface</a:t>
            </a:r>
            <a:endParaRPr lang="en-US" altLang="en-GB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795020" y="1315085"/>
            <a:ext cx="1932305" cy="5053330"/>
          </a:xfrm>
          <a:prstGeom prst="rect">
            <a:avLst/>
          </a:prstGeom>
          <a:blipFill>
            <a:blip r:embed="rId1"/>
          </a:blipFill>
          <a:ln w="19050"/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 rtlCol="0">
            <a:noAutofit/>
          </a:bodyPr>
          <a:p>
            <a:pPr algn="ctr"/>
            <a:endParaRPr lang="en-US" altLang="en-GB" sz="2000" b="1"/>
          </a:p>
          <a:p>
            <a:pPr algn="ctr"/>
            <a:endParaRPr lang="en-US" altLang="en-GB" sz="2000" b="1"/>
          </a:p>
          <a:p>
            <a:pPr algn="ctr"/>
            <a:endParaRPr lang="en-US" altLang="en-GB" sz="2000" b="1"/>
          </a:p>
          <a:p>
            <a:pPr algn="ctr"/>
            <a:endParaRPr lang="en-US" altLang="en-GB" sz="2000" b="1"/>
          </a:p>
          <a:p>
            <a:pPr algn="ctr"/>
            <a:endParaRPr lang="en-US" altLang="en-GB" sz="2000" b="1"/>
          </a:p>
          <a:p>
            <a:pPr algn="ctr"/>
            <a:endParaRPr lang="en-US" altLang="en-GB" sz="2000" b="1">
              <a:latin typeface="Times New Roman" panose="02020603050405020304" charset="0"/>
              <a:cs typeface="Times New Roman" panose="02020603050405020304" charset="0"/>
            </a:endParaRPr>
          </a:p>
          <a:p>
            <a:pPr algn="ctr"/>
            <a:r>
              <a:rPr lang="en-US" altLang="en-GB" sz="2000" b="1">
                <a:latin typeface="Times New Roman" panose="02020603050405020304" charset="0"/>
                <a:cs typeface="Times New Roman" panose="02020603050405020304" charset="0"/>
              </a:rPr>
              <a:t>Student </a:t>
            </a:r>
            <a:endParaRPr lang="en-US" altLang="en-GB" sz="2000" b="1">
              <a:latin typeface="Times New Roman" panose="02020603050405020304" charset="0"/>
              <a:cs typeface="Times New Roman" panose="02020603050405020304" charset="0"/>
            </a:endParaRPr>
          </a:p>
          <a:p>
            <a:pPr algn="ctr"/>
            <a:r>
              <a:rPr lang="en-US" altLang="en-GB" sz="2000" b="1">
                <a:latin typeface="Times New Roman" panose="02020603050405020304" charset="0"/>
                <a:cs typeface="Times New Roman" panose="02020603050405020304" charset="0"/>
              </a:rPr>
              <a:t>Attempting</a:t>
            </a:r>
            <a:endParaRPr lang="en-US" altLang="en-GB" sz="2000" b="1">
              <a:latin typeface="Times New Roman" panose="02020603050405020304" charset="0"/>
              <a:cs typeface="Times New Roman" panose="02020603050405020304" charset="0"/>
            </a:endParaRPr>
          </a:p>
          <a:p>
            <a:pPr algn="ctr"/>
            <a:r>
              <a:rPr lang="en-US" altLang="en-GB" sz="2000" b="1">
                <a:latin typeface="Times New Roman" panose="02020603050405020304" charset="0"/>
                <a:cs typeface="Times New Roman" panose="02020603050405020304" charset="0"/>
              </a:rPr>
              <a:t>Test</a:t>
            </a:r>
            <a:endParaRPr lang="en-US" altLang="en-GB" sz="2000" b="1">
              <a:latin typeface="Times New Roman" panose="02020603050405020304" charset="0"/>
              <a:cs typeface="Times New Roman" panose="02020603050405020304" charset="0"/>
            </a:endParaRPr>
          </a:p>
          <a:p>
            <a:pPr algn="ctr"/>
            <a:r>
              <a:rPr lang="en-US" altLang="en-GB" sz="2000" b="1">
                <a:latin typeface="Times New Roman" panose="02020603050405020304" charset="0"/>
                <a:cs typeface="Times New Roman" panose="02020603050405020304" charset="0"/>
              </a:rPr>
              <a:t>Interface</a:t>
            </a:r>
            <a:endParaRPr lang="en-US" altLang="en-GB" sz="2000" b="1">
              <a:latin typeface="Times New Roman" panose="02020603050405020304" charset="0"/>
              <a:cs typeface="Times New Roman" panose="02020603050405020304" charset="0"/>
            </a:endParaRPr>
          </a:p>
          <a:p>
            <a:pPr algn="ctr"/>
            <a:endParaRPr lang="en-US" altLang="en-GB" sz="20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48610" y="1315085"/>
            <a:ext cx="7504430" cy="505333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eelOff"/>
      </p:transition>
    </mc:Choice>
    <mc:Fallback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09600" y="190500"/>
            <a:ext cx="9817100" cy="582930"/>
          </a:xfrm>
          <a:prstGeom prst="roundRect">
            <a:avLst/>
          </a:prstGeom>
          <a:solidFill>
            <a:srgbClr val="C2CEBD"/>
          </a:solidFill>
          <a:ln w="12700">
            <a:solidFill>
              <a:srgbClr val="0070C0"/>
            </a:solidFill>
          </a:ln>
          <a:effectLst>
            <a:innerShdw blurRad="114300">
              <a:prstClr val="black"/>
            </a:innerShdw>
          </a:effectLst>
        </p:spPr>
        <p:txBody>
          <a:bodyPr/>
          <a:p>
            <a:pPr algn="ctr"/>
            <a:r>
              <a:rPr lang="en-US" altLang="en-GB" b="1">
                <a:latin typeface="Times New Roman" panose="02020603050405020304" charset="0"/>
                <a:cs typeface="Times New Roman" panose="02020603050405020304" charset="0"/>
              </a:rPr>
              <a:t>GUI Interface</a:t>
            </a:r>
            <a:endParaRPr lang="en-US" altLang="en-GB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795020" y="1315085"/>
            <a:ext cx="1932305" cy="5053330"/>
          </a:xfrm>
          <a:prstGeom prst="rect">
            <a:avLst/>
          </a:prstGeom>
          <a:blipFill>
            <a:blip r:embed="rId1"/>
          </a:blipFill>
          <a:ln w="19050"/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 rtlCol="0">
            <a:noAutofit/>
          </a:bodyPr>
          <a:p>
            <a:pPr algn="ctr"/>
            <a:endParaRPr lang="en-US" altLang="en-GB" sz="2000" b="1"/>
          </a:p>
          <a:p>
            <a:pPr algn="ctr"/>
            <a:endParaRPr lang="en-US" altLang="en-GB" sz="2000" b="1"/>
          </a:p>
          <a:p>
            <a:pPr algn="ctr"/>
            <a:endParaRPr lang="en-US" altLang="en-GB" sz="2000" b="1"/>
          </a:p>
          <a:p>
            <a:pPr algn="ctr"/>
            <a:endParaRPr lang="en-US" altLang="en-GB" sz="2000" b="1"/>
          </a:p>
          <a:p>
            <a:pPr algn="ctr"/>
            <a:endParaRPr lang="en-US" altLang="en-GB" sz="2000" b="1"/>
          </a:p>
          <a:p>
            <a:pPr algn="ctr"/>
            <a:endParaRPr lang="en-US" altLang="en-GB" sz="2000" b="1"/>
          </a:p>
          <a:p>
            <a:pPr algn="ctr"/>
            <a:endParaRPr lang="en-US" altLang="en-GB" sz="2000" b="1">
              <a:latin typeface="Times New Roman" panose="02020603050405020304" charset="0"/>
              <a:cs typeface="Times New Roman" panose="02020603050405020304" charset="0"/>
            </a:endParaRPr>
          </a:p>
          <a:p>
            <a:pPr algn="ctr"/>
            <a:r>
              <a:rPr lang="en-US" altLang="en-GB" sz="2000" b="1">
                <a:latin typeface="Times New Roman" panose="02020603050405020304" charset="0"/>
                <a:cs typeface="Times New Roman" panose="02020603050405020304" charset="0"/>
              </a:rPr>
              <a:t>Result </a:t>
            </a:r>
            <a:endParaRPr lang="en-US" altLang="en-GB" sz="2000" b="1">
              <a:latin typeface="Times New Roman" panose="02020603050405020304" charset="0"/>
              <a:cs typeface="Times New Roman" panose="02020603050405020304" charset="0"/>
            </a:endParaRPr>
          </a:p>
          <a:p>
            <a:pPr algn="ctr"/>
            <a:r>
              <a:rPr lang="en-US" altLang="en-GB" sz="2000" b="1">
                <a:latin typeface="Times New Roman" panose="02020603050405020304" charset="0"/>
                <a:cs typeface="Times New Roman" panose="02020603050405020304" charset="0"/>
              </a:rPr>
              <a:t>Interface</a:t>
            </a:r>
            <a:endParaRPr lang="en-US" altLang="en-GB" sz="2000" b="1">
              <a:latin typeface="Times New Roman" panose="02020603050405020304" charset="0"/>
              <a:cs typeface="Times New Roman" panose="02020603050405020304" charset="0"/>
            </a:endParaRPr>
          </a:p>
          <a:p>
            <a:pPr algn="ctr"/>
            <a:endParaRPr lang="en-US" altLang="en-GB" sz="20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60675" y="1315085"/>
            <a:ext cx="7922895" cy="505333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eelOff"/>
      </p:transition>
    </mc:Choice>
    <mc:Fallback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09600" y="190500"/>
            <a:ext cx="9817100" cy="582930"/>
          </a:xfrm>
          <a:prstGeom prst="roundRect">
            <a:avLst/>
          </a:prstGeom>
          <a:solidFill>
            <a:srgbClr val="C2CEBD"/>
          </a:solidFill>
          <a:ln w="12700">
            <a:solidFill>
              <a:srgbClr val="0070C0"/>
            </a:solidFill>
          </a:ln>
          <a:effectLst>
            <a:innerShdw blurRad="114300">
              <a:prstClr val="black"/>
            </a:innerShdw>
          </a:effectLst>
        </p:spPr>
        <p:txBody>
          <a:bodyPr/>
          <a:p>
            <a:pPr algn="ctr"/>
            <a:r>
              <a:rPr lang="en-US" altLang="en-GB" b="1">
                <a:latin typeface="Times New Roman" panose="02020603050405020304" charset="0"/>
                <a:cs typeface="Times New Roman" panose="02020603050405020304" charset="0"/>
              </a:rPr>
              <a:t>GUI Interface</a:t>
            </a:r>
            <a:endParaRPr lang="en-US" altLang="en-GB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795020" y="1315085"/>
            <a:ext cx="1932305" cy="5053330"/>
          </a:xfrm>
          <a:prstGeom prst="rect">
            <a:avLst/>
          </a:prstGeom>
          <a:blipFill>
            <a:blip r:embed="rId1"/>
          </a:blipFill>
          <a:ln w="19050"/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 rtlCol="0">
            <a:noAutofit/>
          </a:bodyPr>
          <a:p>
            <a:pPr algn="ctr"/>
            <a:endParaRPr lang="en-US" altLang="en-GB" sz="2000" b="1"/>
          </a:p>
          <a:p>
            <a:pPr algn="ctr"/>
            <a:endParaRPr lang="en-US" altLang="en-GB" sz="2000" b="1"/>
          </a:p>
          <a:p>
            <a:pPr algn="ctr"/>
            <a:endParaRPr lang="en-US" altLang="en-GB" sz="2000" b="1"/>
          </a:p>
          <a:p>
            <a:pPr algn="ctr"/>
            <a:endParaRPr lang="en-US" altLang="en-GB" sz="2000" b="1"/>
          </a:p>
          <a:p>
            <a:pPr algn="ctr"/>
            <a:endParaRPr lang="en-US" altLang="en-GB" sz="2000" b="1">
              <a:latin typeface="Times New Roman" panose="02020603050405020304" charset="0"/>
              <a:cs typeface="Times New Roman" panose="02020603050405020304" charset="0"/>
            </a:endParaRPr>
          </a:p>
          <a:p>
            <a:pPr algn="ctr"/>
            <a:r>
              <a:rPr lang="en-US" altLang="en-GB" sz="2000" b="1">
                <a:latin typeface="Times New Roman" panose="02020603050405020304" charset="0"/>
                <a:cs typeface="Times New Roman" panose="02020603050405020304" charset="0"/>
              </a:rPr>
              <a:t>Performance</a:t>
            </a:r>
            <a:endParaRPr lang="en-US" altLang="en-GB" sz="2000" b="1">
              <a:latin typeface="Times New Roman" panose="02020603050405020304" charset="0"/>
              <a:cs typeface="Times New Roman" panose="02020603050405020304" charset="0"/>
            </a:endParaRPr>
          </a:p>
          <a:p>
            <a:pPr algn="ctr"/>
            <a:r>
              <a:rPr lang="en-US" altLang="en-GB" sz="2000" b="1">
                <a:latin typeface="Times New Roman" panose="02020603050405020304" charset="0"/>
                <a:cs typeface="Times New Roman" panose="02020603050405020304" charset="0"/>
              </a:rPr>
              <a:t>History</a:t>
            </a:r>
            <a:endParaRPr lang="en-US" altLang="en-GB" sz="2000" b="1">
              <a:latin typeface="Times New Roman" panose="02020603050405020304" charset="0"/>
              <a:cs typeface="Times New Roman" panose="02020603050405020304" charset="0"/>
            </a:endParaRPr>
          </a:p>
          <a:p>
            <a:pPr algn="ctr"/>
            <a:r>
              <a:rPr lang="en-US" altLang="en-GB" sz="2000" b="1">
                <a:latin typeface="Times New Roman" panose="02020603050405020304" charset="0"/>
                <a:cs typeface="Times New Roman" panose="02020603050405020304" charset="0"/>
              </a:rPr>
              <a:t>Interface for Student Side</a:t>
            </a:r>
            <a:endParaRPr lang="en-US" altLang="en-GB" sz="2000" b="1">
              <a:latin typeface="Times New Roman" panose="02020603050405020304" charset="0"/>
              <a:cs typeface="Times New Roman" panose="02020603050405020304" charset="0"/>
            </a:endParaRPr>
          </a:p>
          <a:p>
            <a:pPr algn="ctr"/>
            <a:endParaRPr lang="en-US" altLang="en-GB" sz="20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5" name="Content Placeholder 4"/>
          <p:cNvPicPr>
            <a:picLocks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53055" y="1315720"/>
            <a:ext cx="7818120" cy="505269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>
        <p:pull/>
      </p:transition>
    </mc:Choice>
    <mc:Fallback>
      <p:transition spd="med">
        <p:pull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09600" y="190500"/>
            <a:ext cx="10420985" cy="582930"/>
          </a:xfrm>
          <a:prstGeom prst="roundRect">
            <a:avLst/>
          </a:prstGeom>
          <a:solidFill>
            <a:srgbClr val="C2CEBD"/>
          </a:solidFill>
          <a:ln w="12700">
            <a:solidFill>
              <a:srgbClr val="0070C0"/>
            </a:solidFill>
          </a:ln>
          <a:effectLst>
            <a:innerShdw blurRad="114300">
              <a:prstClr val="black"/>
            </a:innerShdw>
          </a:effectLst>
        </p:spPr>
        <p:txBody>
          <a:bodyPr/>
          <a:p>
            <a:pPr algn="ctr"/>
            <a:r>
              <a:rPr lang="en-US" altLang="en-GB" b="1">
                <a:latin typeface="Times New Roman" panose="02020603050405020304" charset="0"/>
                <a:cs typeface="Times New Roman" panose="02020603050405020304" charset="0"/>
              </a:rPr>
              <a:t>GUI Interface</a:t>
            </a:r>
            <a:endParaRPr lang="en-US" altLang="en-GB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795020" y="1315085"/>
            <a:ext cx="1932305" cy="5053330"/>
          </a:xfrm>
          <a:prstGeom prst="rect">
            <a:avLst/>
          </a:prstGeom>
          <a:blipFill>
            <a:blip r:embed="rId1"/>
          </a:blipFill>
          <a:ln w="19050"/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 rtlCol="0">
            <a:noAutofit/>
          </a:bodyPr>
          <a:p>
            <a:pPr algn="ctr"/>
            <a:endParaRPr lang="en-US" altLang="en-GB" sz="2000" b="1"/>
          </a:p>
          <a:p>
            <a:pPr algn="ctr"/>
            <a:endParaRPr lang="en-US" altLang="en-GB" sz="2000" b="1"/>
          </a:p>
          <a:p>
            <a:pPr algn="ctr"/>
            <a:endParaRPr lang="en-US" altLang="en-GB" sz="2000" b="1"/>
          </a:p>
          <a:p>
            <a:pPr algn="ctr"/>
            <a:endParaRPr lang="en-US" altLang="en-GB" sz="2000" b="1"/>
          </a:p>
          <a:p>
            <a:pPr algn="ctr"/>
            <a:endParaRPr lang="en-US" altLang="en-GB" sz="2000" b="1">
              <a:latin typeface="Times New Roman" panose="02020603050405020304" charset="0"/>
              <a:cs typeface="Times New Roman" panose="02020603050405020304" charset="0"/>
            </a:endParaRPr>
          </a:p>
          <a:p>
            <a:pPr algn="ctr"/>
            <a:endParaRPr lang="en-US" altLang="en-GB" sz="2000" b="1">
              <a:latin typeface="Times New Roman" panose="02020603050405020304" charset="0"/>
              <a:cs typeface="Times New Roman" panose="02020603050405020304" charset="0"/>
            </a:endParaRPr>
          </a:p>
          <a:p>
            <a:pPr algn="ctr"/>
            <a:r>
              <a:rPr lang="en-US" altLang="en-GB" sz="2000" b="1">
                <a:latin typeface="Times New Roman" panose="02020603050405020304" charset="0"/>
                <a:cs typeface="Times New Roman" panose="02020603050405020304" charset="0"/>
              </a:rPr>
              <a:t>Admin</a:t>
            </a:r>
            <a:endParaRPr lang="en-US" altLang="en-GB" sz="2000" b="1">
              <a:latin typeface="Times New Roman" panose="02020603050405020304" charset="0"/>
              <a:cs typeface="Times New Roman" panose="02020603050405020304" charset="0"/>
            </a:endParaRPr>
          </a:p>
          <a:p>
            <a:pPr algn="ctr"/>
            <a:r>
              <a:rPr lang="en-US" altLang="en-GB" sz="2000" b="1">
                <a:latin typeface="Times New Roman" panose="02020603050405020304" charset="0"/>
                <a:cs typeface="Times New Roman" panose="02020603050405020304" charset="0"/>
              </a:rPr>
              <a:t>Dashboard</a:t>
            </a:r>
            <a:endParaRPr lang="en-US" altLang="en-GB" sz="20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12" name="Content Placeholder 11" descr="admin dashboard"/>
          <p:cNvPicPr>
            <a:picLocks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91460" y="1315085"/>
            <a:ext cx="8349615" cy="505333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09600" y="190500"/>
            <a:ext cx="10420985" cy="582930"/>
          </a:xfrm>
          <a:prstGeom prst="roundRect">
            <a:avLst/>
          </a:prstGeom>
          <a:solidFill>
            <a:srgbClr val="C2CEBD"/>
          </a:solidFill>
          <a:ln w="12700">
            <a:solidFill>
              <a:srgbClr val="0070C0"/>
            </a:solidFill>
          </a:ln>
          <a:effectLst>
            <a:innerShdw blurRad="114300">
              <a:prstClr val="black"/>
            </a:innerShdw>
          </a:effectLst>
        </p:spPr>
        <p:txBody>
          <a:bodyPr/>
          <a:p>
            <a:pPr algn="ctr"/>
            <a:r>
              <a:rPr lang="en-US" altLang="en-GB" b="1">
                <a:latin typeface="Times New Roman" panose="02020603050405020304" charset="0"/>
                <a:cs typeface="Times New Roman" panose="02020603050405020304" charset="0"/>
              </a:rPr>
              <a:t>GUI Interface</a:t>
            </a:r>
            <a:endParaRPr lang="en-US" altLang="en-GB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795020" y="1315085"/>
            <a:ext cx="1932305" cy="5303520"/>
          </a:xfrm>
          <a:prstGeom prst="rect">
            <a:avLst/>
          </a:prstGeom>
          <a:blipFill>
            <a:blip r:embed="rId1"/>
          </a:blipFill>
          <a:ln w="19050"/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 rtlCol="0">
            <a:noAutofit/>
          </a:bodyPr>
          <a:p>
            <a:pPr algn="ctr"/>
            <a:endParaRPr lang="en-US" altLang="en-GB" sz="2000" b="1"/>
          </a:p>
          <a:p>
            <a:pPr algn="ctr"/>
            <a:endParaRPr lang="en-US" altLang="en-GB" sz="2000" b="1"/>
          </a:p>
          <a:p>
            <a:pPr algn="ctr"/>
            <a:endParaRPr lang="en-US" altLang="en-GB" sz="2000" b="1"/>
          </a:p>
          <a:p>
            <a:pPr algn="ctr"/>
            <a:endParaRPr lang="en-US" altLang="en-GB" sz="2000" b="1"/>
          </a:p>
          <a:p>
            <a:pPr algn="ctr"/>
            <a:endParaRPr lang="en-US" altLang="en-GB" sz="2000" b="1">
              <a:latin typeface="Times New Roman" panose="02020603050405020304" charset="0"/>
              <a:cs typeface="Times New Roman" panose="02020603050405020304" charset="0"/>
            </a:endParaRPr>
          </a:p>
          <a:p>
            <a:pPr algn="ctr"/>
            <a:endParaRPr lang="en-US" altLang="en-GB" sz="2000" b="1">
              <a:latin typeface="Times New Roman" panose="02020603050405020304" charset="0"/>
              <a:cs typeface="Times New Roman" panose="02020603050405020304" charset="0"/>
            </a:endParaRPr>
          </a:p>
          <a:p>
            <a:pPr algn="ctr"/>
            <a:r>
              <a:rPr lang="en-US" altLang="en-GB" sz="2000" b="1">
                <a:latin typeface="Times New Roman" panose="02020603050405020304" charset="0"/>
                <a:cs typeface="Times New Roman" panose="02020603050405020304" charset="0"/>
              </a:rPr>
              <a:t>Teacher</a:t>
            </a:r>
            <a:endParaRPr lang="en-US" altLang="en-GB" sz="2000" b="1">
              <a:latin typeface="Times New Roman" panose="02020603050405020304" charset="0"/>
              <a:cs typeface="Times New Roman" panose="02020603050405020304" charset="0"/>
            </a:endParaRPr>
          </a:p>
          <a:p>
            <a:pPr algn="ctr"/>
            <a:r>
              <a:rPr lang="en-US" altLang="en-GB" sz="2000" b="1">
                <a:latin typeface="Times New Roman" panose="02020603050405020304" charset="0"/>
                <a:cs typeface="Times New Roman" panose="02020603050405020304" charset="0"/>
              </a:rPr>
              <a:t>Managing MCQ</a:t>
            </a:r>
            <a:endParaRPr lang="en-US" altLang="en-GB" sz="2000" b="1">
              <a:latin typeface="Times New Roman" panose="02020603050405020304" charset="0"/>
              <a:cs typeface="Times New Roman" panose="02020603050405020304" charset="0"/>
            </a:endParaRPr>
          </a:p>
          <a:p>
            <a:pPr algn="ctr"/>
            <a:r>
              <a:rPr lang="en-US" altLang="en-GB" sz="2000" b="1">
                <a:latin typeface="Times New Roman" panose="02020603050405020304" charset="0"/>
                <a:cs typeface="Times New Roman" panose="02020603050405020304" charset="0"/>
              </a:rPr>
              <a:t>Interface</a:t>
            </a:r>
            <a:endParaRPr lang="en-US" altLang="en-GB" sz="20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7" name="Content Placeholder 6" descr="Screenshot 2025-07-05 140109"/>
          <p:cNvPicPr>
            <a:picLocks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27960" y="1315085"/>
            <a:ext cx="8169275" cy="53035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eelOff"/>
      </p:transition>
    </mc:Choice>
    <mc:Fallback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09600" y="190500"/>
            <a:ext cx="10420985" cy="582930"/>
          </a:xfrm>
          <a:prstGeom prst="roundRect">
            <a:avLst/>
          </a:prstGeom>
          <a:solidFill>
            <a:srgbClr val="C2CEBD"/>
          </a:solidFill>
          <a:ln w="12700">
            <a:solidFill>
              <a:srgbClr val="0070C0"/>
            </a:solidFill>
          </a:ln>
          <a:effectLst>
            <a:innerShdw blurRad="114300">
              <a:prstClr val="black"/>
            </a:innerShdw>
          </a:effectLst>
        </p:spPr>
        <p:txBody>
          <a:bodyPr/>
          <a:p>
            <a:pPr algn="ctr"/>
            <a:r>
              <a:rPr lang="en-US" altLang="en-GB" b="1">
                <a:latin typeface="Times New Roman" panose="02020603050405020304" charset="0"/>
                <a:cs typeface="Times New Roman" panose="02020603050405020304" charset="0"/>
              </a:rPr>
              <a:t>GUI Interface</a:t>
            </a:r>
            <a:endParaRPr lang="en-US" altLang="en-GB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795020" y="1315085"/>
            <a:ext cx="1932305" cy="5303520"/>
          </a:xfrm>
          <a:prstGeom prst="rect">
            <a:avLst/>
          </a:prstGeom>
          <a:blipFill>
            <a:blip r:embed="rId1"/>
          </a:blipFill>
          <a:ln w="19050"/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 rtlCol="0">
            <a:noAutofit/>
          </a:bodyPr>
          <a:p>
            <a:pPr algn="ctr"/>
            <a:endParaRPr lang="en-US" altLang="en-GB" sz="2000" b="1"/>
          </a:p>
          <a:p>
            <a:pPr algn="ctr"/>
            <a:endParaRPr lang="en-US" altLang="en-GB" sz="2000" b="1"/>
          </a:p>
          <a:p>
            <a:pPr algn="ctr"/>
            <a:endParaRPr lang="en-US" altLang="en-GB" sz="2000" b="1"/>
          </a:p>
          <a:p>
            <a:pPr algn="ctr"/>
            <a:endParaRPr lang="en-US" altLang="en-GB" sz="2000" b="1"/>
          </a:p>
          <a:p>
            <a:pPr algn="ctr"/>
            <a:endParaRPr lang="en-US" altLang="en-GB" sz="2000" b="1">
              <a:latin typeface="Times New Roman" panose="02020603050405020304" charset="0"/>
              <a:cs typeface="Times New Roman" panose="02020603050405020304" charset="0"/>
            </a:endParaRPr>
          </a:p>
          <a:p>
            <a:pPr algn="ctr"/>
            <a:endParaRPr lang="en-US" altLang="en-GB" sz="2000" b="1">
              <a:latin typeface="Times New Roman" panose="02020603050405020304" charset="0"/>
              <a:cs typeface="Times New Roman" panose="02020603050405020304" charset="0"/>
            </a:endParaRPr>
          </a:p>
          <a:p>
            <a:pPr algn="ctr"/>
            <a:r>
              <a:rPr lang="en-US" altLang="en-GB" sz="2000" b="1">
                <a:latin typeface="Times New Roman" panose="02020603050405020304" charset="0"/>
                <a:cs typeface="Times New Roman" panose="02020603050405020304" charset="0"/>
              </a:rPr>
              <a:t>Teacher</a:t>
            </a:r>
            <a:endParaRPr lang="en-US" altLang="en-GB" sz="2000" b="1">
              <a:latin typeface="Times New Roman" panose="02020603050405020304" charset="0"/>
              <a:cs typeface="Times New Roman" panose="02020603050405020304" charset="0"/>
            </a:endParaRPr>
          </a:p>
          <a:p>
            <a:pPr algn="ctr"/>
            <a:r>
              <a:rPr lang="en-US" altLang="en-GB" sz="2000" b="1">
                <a:latin typeface="Times New Roman" panose="02020603050405020304" charset="0"/>
                <a:cs typeface="Times New Roman" panose="02020603050405020304" charset="0"/>
              </a:rPr>
              <a:t>Creating Test</a:t>
            </a:r>
            <a:endParaRPr lang="en-US" altLang="en-GB" sz="2000" b="1">
              <a:latin typeface="Times New Roman" panose="02020603050405020304" charset="0"/>
              <a:cs typeface="Times New Roman" panose="02020603050405020304" charset="0"/>
            </a:endParaRPr>
          </a:p>
          <a:p>
            <a:pPr algn="ctr"/>
            <a:r>
              <a:rPr lang="en-US" altLang="en-GB" sz="2000" b="1">
                <a:latin typeface="Times New Roman" panose="02020603050405020304" charset="0"/>
                <a:cs typeface="Times New Roman" panose="02020603050405020304" charset="0"/>
              </a:rPr>
              <a:t>Interface</a:t>
            </a:r>
            <a:endParaRPr lang="en-US" altLang="en-GB" sz="20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4" name="Content Placeholder 3" descr="Screenshot 2025-07-05 135511"/>
          <p:cNvPicPr>
            <a:picLocks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27325" y="1315085"/>
            <a:ext cx="8303260" cy="53035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>
        <p:pull/>
      </p:transition>
    </mc:Choice>
    <mc:Fallback>
      <p:transition spd="med">
        <p:pull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09600" y="190500"/>
            <a:ext cx="10420985" cy="582930"/>
          </a:xfrm>
          <a:prstGeom prst="roundRect">
            <a:avLst/>
          </a:prstGeom>
          <a:solidFill>
            <a:srgbClr val="C2CEBD"/>
          </a:solidFill>
          <a:ln w="12700">
            <a:solidFill>
              <a:srgbClr val="0070C0"/>
            </a:solidFill>
          </a:ln>
          <a:effectLst>
            <a:innerShdw blurRad="114300">
              <a:prstClr val="black"/>
            </a:innerShdw>
          </a:effectLst>
        </p:spPr>
        <p:txBody>
          <a:bodyPr/>
          <a:p>
            <a:pPr algn="ctr"/>
            <a:r>
              <a:rPr lang="en-US" altLang="en-GB" b="1">
                <a:latin typeface="Times New Roman" panose="02020603050405020304" charset="0"/>
                <a:cs typeface="Times New Roman" panose="02020603050405020304" charset="0"/>
              </a:rPr>
              <a:t>GUI Interface</a:t>
            </a:r>
            <a:endParaRPr lang="en-US" altLang="en-GB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795020" y="1315085"/>
            <a:ext cx="1932305" cy="5053330"/>
          </a:xfrm>
          <a:prstGeom prst="rect">
            <a:avLst/>
          </a:prstGeom>
          <a:blipFill>
            <a:blip r:embed="rId1"/>
          </a:blipFill>
          <a:ln w="19050"/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 rtlCol="0">
            <a:noAutofit/>
          </a:bodyPr>
          <a:p>
            <a:pPr algn="ctr"/>
            <a:endParaRPr lang="en-US" altLang="en-GB" sz="2000" b="1"/>
          </a:p>
          <a:p>
            <a:pPr algn="ctr"/>
            <a:endParaRPr lang="en-US" altLang="en-GB" sz="2000" b="1"/>
          </a:p>
          <a:p>
            <a:pPr algn="ctr"/>
            <a:endParaRPr lang="en-US" altLang="en-GB" sz="2000" b="1"/>
          </a:p>
          <a:p>
            <a:pPr algn="ctr"/>
            <a:endParaRPr lang="en-US" altLang="en-GB" sz="2000" b="1"/>
          </a:p>
          <a:p>
            <a:pPr algn="ctr"/>
            <a:endParaRPr lang="en-US" altLang="en-GB" sz="2000" b="1">
              <a:latin typeface="Times New Roman" panose="02020603050405020304" charset="0"/>
              <a:cs typeface="Times New Roman" panose="02020603050405020304" charset="0"/>
            </a:endParaRPr>
          </a:p>
          <a:p>
            <a:pPr algn="ctr"/>
            <a:r>
              <a:rPr lang="en-US" altLang="en-GB" sz="2000" b="1">
                <a:latin typeface="Times New Roman" panose="02020603050405020304" charset="0"/>
                <a:cs typeface="Times New Roman" panose="02020603050405020304" charset="0"/>
              </a:rPr>
              <a:t>Performance History</a:t>
            </a:r>
            <a:endParaRPr lang="en-US" altLang="en-GB" sz="2000" b="1">
              <a:latin typeface="Times New Roman" panose="02020603050405020304" charset="0"/>
              <a:cs typeface="Times New Roman" panose="02020603050405020304" charset="0"/>
            </a:endParaRPr>
          </a:p>
          <a:p>
            <a:pPr algn="ctr"/>
            <a:r>
              <a:rPr lang="en-US" altLang="en-GB" sz="2000" b="1">
                <a:latin typeface="Times New Roman" panose="02020603050405020304" charset="0"/>
                <a:cs typeface="Times New Roman" panose="02020603050405020304" charset="0"/>
              </a:rPr>
              <a:t>Interface</a:t>
            </a:r>
            <a:endParaRPr lang="en-US" altLang="en-GB" sz="2000" b="1">
              <a:latin typeface="Times New Roman" panose="02020603050405020304" charset="0"/>
              <a:cs typeface="Times New Roman" panose="02020603050405020304" charset="0"/>
            </a:endParaRPr>
          </a:p>
          <a:p>
            <a:pPr algn="ctr"/>
            <a:r>
              <a:rPr lang="en-US" altLang="en-GB" sz="2000" b="1">
                <a:latin typeface="Times New Roman" panose="02020603050405020304" charset="0"/>
                <a:cs typeface="Times New Roman" panose="02020603050405020304" charset="0"/>
              </a:rPr>
              <a:t>for Admin</a:t>
            </a:r>
            <a:endParaRPr lang="en-US" altLang="en-GB" sz="2000" b="1">
              <a:latin typeface="Times New Roman" panose="02020603050405020304" charset="0"/>
              <a:cs typeface="Times New Roman" panose="02020603050405020304" charset="0"/>
            </a:endParaRPr>
          </a:p>
          <a:p>
            <a:pPr algn="ctr"/>
            <a:r>
              <a:rPr lang="en-US" altLang="en-GB" sz="2000" b="1">
                <a:latin typeface="Times New Roman" panose="02020603050405020304" charset="0"/>
                <a:cs typeface="Times New Roman" panose="02020603050405020304" charset="0"/>
              </a:rPr>
              <a:t> Side</a:t>
            </a:r>
            <a:endParaRPr lang="en-US" altLang="en-GB" sz="20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4" name="Content Placeholder 3" descr="Screenshot 2025-07-02 173953"/>
          <p:cNvPicPr>
            <a:picLocks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27325" y="1315085"/>
            <a:ext cx="8412480" cy="505333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eelOff"/>
      </p:transition>
    </mc:Choice>
    <mc:Fallback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09600" y="190500"/>
            <a:ext cx="9817100" cy="582930"/>
          </a:xfrm>
          <a:prstGeom prst="roundRect">
            <a:avLst/>
          </a:prstGeom>
          <a:solidFill>
            <a:srgbClr val="C2CEBD"/>
          </a:solidFill>
          <a:ln w="12700">
            <a:solidFill>
              <a:srgbClr val="0070C0"/>
            </a:solidFill>
          </a:ln>
          <a:effectLst>
            <a:innerShdw blurRad="114300">
              <a:prstClr val="black"/>
            </a:innerShdw>
          </a:effectLst>
        </p:spPr>
        <p:txBody>
          <a:bodyPr/>
          <a:p>
            <a:pPr algn="ctr"/>
            <a:r>
              <a:rPr lang="en-US" altLang="en-GB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Development Phase</a:t>
            </a:r>
            <a:endParaRPr lang="en-GB" altLang="en-US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795020" y="1315085"/>
            <a:ext cx="1932305" cy="5053330"/>
          </a:xfrm>
          <a:prstGeom prst="rect">
            <a:avLst/>
          </a:prstGeom>
          <a:blipFill>
            <a:blip r:embed="rId1"/>
          </a:blipFill>
          <a:ln w="19050"/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 rtlCol="0">
            <a:noAutofit/>
          </a:bodyPr>
          <a:p>
            <a:pPr algn="ctr"/>
            <a:endParaRPr lang="en-US" altLang="en-GB" sz="2000" b="1"/>
          </a:p>
          <a:p>
            <a:pPr algn="ctr"/>
            <a:endParaRPr lang="en-US" altLang="en-GB" sz="2000" b="1"/>
          </a:p>
          <a:p>
            <a:pPr algn="ctr"/>
            <a:endParaRPr lang="en-US" altLang="en-GB" sz="2000" b="1"/>
          </a:p>
          <a:p>
            <a:pPr algn="ctr"/>
            <a:endParaRPr lang="en-US" altLang="en-GB" sz="2000" b="1"/>
          </a:p>
          <a:p>
            <a:pPr algn="ctr"/>
            <a:endParaRPr lang="en-US" altLang="en-GB" sz="2000" b="1"/>
          </a:p>
          <a:p>
            <a:pPr algn="ctr"/>
            <a:endParaRPr lang="en-US" altLang="en-GB" sz="2000" b="1"/>
          </a:p>
          <a:p>
            <a:pPr algn="ctr"/>
            <a:r>
              <a:rPr lang="en-US" altLang="en-GB" sz="2000" b="1">
                <a:latin typeface="Times New Roman" panose="02020603050405020304" charset="0"/>
                <a:cs typeface="Times New Roman" panose="02020603050405020304" charset="0"/>
              </a:rPr>
              <a:t>Tools </a:t>
            </a:r>
            <a:endParaRPr lang="en-US" altLang="en-GB" sz="2000" b="1">
              <a:latin typeface="Times New Roman" panose="02020603050405020304" charset="0"/>
              <a:cs typeface="Times New Roman" panose="02020603050405020304" charset="0"/>
            </a:endParaRPr>
          </a:p>
          <a:p>
            <a:pPr algn="ctr"/>
            <a:r>
              <a:rPr lang="en-US" altLang="en-GB" sz="2000" b="1">
                <a:latin typeface="Times New Roman" panose="02020603050405020304" charset="0"/>
                <a:cs typeface="Times New Roman" panose="02020603050405020304" charset="0"/>
              </a:rPr>
              <a:t>And</a:t>
            </a:r>
            <a:endParaRPr lang="en-US" altLang="en-GB" sz="2000" b="1">
              <a:latin typeface="Times New Roman" panose="02020603050405020304" charset="0"/>
              <a:cs typeface="Times New Roman" panose="02020603050405020304" charset="0"/>
            </a:endParaRPr>
          </a:p>
          <a:p>
            <a:pPr algn="ctr"/>
            <a:r>
              <a:rPr lang="en-US" altLang="en-GB" sz="2000" b="1">
                <a:latin typeface="Times New Roman" panose="02020603050405020304" charset="0"/>
                <a:cs typeface="Times New Roman" panose="02020603050405020304" charset="0"/>
              </a:rPr>
              <a:t>Technologies</a:t>
            </a:r>
            <a:endParaRPr lang="en-US" altLang="en-GB" sz="20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" name="Content Placeholder 1"/>
          <p:cNvSpPr/>
          <p:nvPr>
            <p:ph idx="1"/>
          </p:nvPr>
        </p:nvSpPr>
        <p:spPr>
          <a:xfrm>
            <a:off x="2802890" y="1315720"/>
            <a:ext cx="7055485" cy="5052060"/>
          </a:xfrm>
          <a:blipFill>
            <a:blip r:embed="rId2"/>
          </a:blipFill>
        </p:spPr>
        <p:txBody>
          <a:bodyPr/>
          <a:p>
            <a:pPr marL="0" indent="0">
              <a:buNone/>
            </a:pPr>
            <a:r>
              <a:rPr lang="en-US" altLang="en-GB" sz="1800" b="1">
                <a:latin typeface="Times New Roman" panose="02020603050405020304" charset="0"/>
                <a:cs typeface="Times New Roman" panose="02020603050405020304" charset="0"/>
              </a:rPr>
              <a:t>Languages: </a:t>
            </a:r>
            <a:endParaRPr lang="en-US" altLang="en-GB" sz="1800" b="1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endParaRPr lang="en-US" altLang="en-GB" sz="18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GB" sz="1800">
                <a:latin typeface="Times New Roman" panose="02020603050405020304" charset="0"/>
                <a:cs typeface="Times New Roman" panose="02020603050405020304" charset="0"/>
              </a:rPr>
              <a:t>Python (Django), HTML, CSS, JavaScript, Bootstrap</a:t>
            </a:r>
            <a:endParaRPr lang="en-US" altLang="en-GB" sz="18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endParaRPr lang="en-US" altLang="en-GB" sz="18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GB" sz="1800" b="1">
                <a:latin typeface="Times New Roman" panose="02020603050405020304" charset="0"/>
                <a:cs typeface="Times New Roman" panose="02020603050405020304" charset="0"/>
              </a:rPr>
              <a:t>Database Tool: </a:t>
            </a:r>
            <a:endParaRPr lang="en-US" altLang="en-GB" sz="1800" b="1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endParaRPr lang="en-US" altLang="en-GB" sz="18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GB" sz="1800">
                <a:latin typeface="Times New Roman" panose="02020603050405020304" charset="0"/>
                <a:cs typeface="Times New Roman" panose="02020603050405020304" charset="0"/>
              </a:rPr>
              <a:t>SQLite 3 (default built-in database engine provided by Django)</a:t>
            </a:r>
            <a:endParaRPr lang="en-US" altLang="en-GB" sz="18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endParaRPr lang="en-US" altLang="en-GB" sz="18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GB" sz="1800" b="1">
                <a:latin typeface="Times New Roman" panose="02020603050405020304" charset="0"/>
                <a:cs typeface="Times New Roman" panose="02020603050405020304" charset="0"/>
              </a:rPr>
              <a:t>IDE: </a:t>
            </a:r>
            <a:endParaRPr lang="en-US" altLang="en-GB" sz="1800" b="1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endParaRPr lang="en-US" altLang="en-GB" sz="18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GB" sz="1800">
                <a:latin typeface="Times New Roman" panose="02020603050405020304" charset="0"/>
                <a:cs typeface="Times New Roman" panose="02020603050405020304" charset="0"/>
              </a:rPr>
              <a:t>Visual Studio (VS) Code</a:t>
            </a:r>
            <a:endParaRPr lang="en-US" altLang="en-GB" sz="18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endParaRPr lang="en-US" altLang="en-GB" sz="18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GB" sz="1800" b="1">
                <a:latin typeface="Times New Roman" panose="02020603050405020304" charset="0"/>
                <a:cs typeface="Times New Roman" panose="02020603050405020304" charset="0"/>
              </a:rPr>
              <a:t>Other Tools: </a:t>
            </a:r>
            <a:endParaRPr lang="en-US" altLang="en-GB" sz="1800" b="1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endParaRPr lang="en-US" altLang="en-GB" sz="18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GB" sz="1800">
                <a:latin typeface="Times New Roman" panose="02020603050405020304" charset="0"/>
                <a:cs typeface="Times New Roman" panose="02020603050405020304" charset="0"/>
              </a:rPr>
              <a:t>Microsoft Office (Word, Visio, PowerPoint, MS Project)</a:t>
            </a:r>
            <a:endParaRPr lang="en-US" altLang="en-GB" sz="18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endParaRPr lang="en-US" altLang="en-GB" sz="18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1214120" y="2400300"/>
            <a:ext cx="8950325" cy="2672080"/>
          </a:xfrm>
          <a:effectLst>
            <a:glow rad="139700">
              <a:schemeClr val="accent2">
                <a:satMod val="175000"/>
                <a:alpha val="40000"/>
              </a:schemeClr>
            </a:glow>
            <a:innerShdw blurRad="63500" dist="50800">
              <a:prstClr val="black">
                <a:alpha val="50000"/>
              </a:prstClr>
            </a:innerShdw>
          </a:effectLst>
          <a:scene3d>
            <a:camera prst="obliqueBottomLeft"/>
            <a:lightRig rig="threePt" dir="t"/>
          </a:scene3d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pPr algn="ctr"/>
            <a:r>
              <a:rPr lang="en-US" altLang="en-GB" sz="4800" b="1" dirty="0">
                <a:effectLst/>
                <a:latin typeface="Times New Roman" panose="02020603050405020304" charset="0"/>
                <a:cs typeface="Times New Roman" panose="02020603050405020304" charset="0"/>
                <a:sym typeface="+mn-ea"/>
              </a:rPr>
              <a:t>That concludes my presentation </a:t>
            </a:r>
            <a:br>
              <a:rPr lang="en-US" altLang="en-GB" sz="4800" b="1" dirty="0">
                <a:effectLst/>
                <a:latin typeface="Times New Roman" panose="02020603050405020304" charset="0"/>
                <a:cs typeface="Times New Roman" panose="02020603050405020304" charset="0"/>
                <a:sym typeface="+mn-ea"/>
              </a:rPr>
            </a:br>
            <a:r>
              <a:rPr lang="en-US" altLang="en-GB" sz="4800" b="1" dirty="0">
                <a:effectLst/>
                <a:latin typeface="Times New Roman" panose="02020603050405020304" charset="0"/>
                <a:cs typeface="Times New Roman" panose="02020603050405020304" charset="0"/>
                <a:sym typeface="+mn-ea"/>
              </a:rPr>
              <a:t>Thank you, Sir</a:t>
            </a:r>
            <a:endParaRPr lang="en-US" altLang="en-GB" sz="4800" b="1" dirty="0">
              <a:effectLst/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eelOff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Blue Waves">
  <a:themeElements>
    <a:clrScheme name="Blue Waves 13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66CC"/>
      </a:accent1>
      <a:accent2>
        <a:srgbClr val="3399FF"/>
      </a:accent2>
      <a:accent3>
        <a:srgbClr val="FFFFFF"/>
      </a:accent3>
      <a:accent4>
        <a:srgbClr val="000000"/>
      </a:accent4>
      <a:accent5>
        <a:srgbClr val="AAB8E2"/>
      </a:accent5>
      <a:accent6>
        <a:srgbClr val="2D8AE7"/>
      </a:accent6>
      <a:hlink>
        <a:srgbClr val="CC3300"/>
      </a:hlink>
      <a:folHlink>
        <a:srgbClr val="996600"/>
      </a:folHlink>
    </a:clrScheme>
    <a:fontScheme name="Blue Waves">
      <a:majorFont>
        <a:latin typeface="Arial"/>
        <a:ea typeface="SimSun"/>
        <a:cs typeface=""/>
      </a:majorFont>
      <a:minorFont>
        <a:latin typeface="Arial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lnDef>
  </a:objectDefaults>
  <a:extraClrSchemeLst>
    <a:extraClrScheme>
      <a:clrScheme name="Blue Wave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Waves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Waves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Waves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Waves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Waves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13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66CC"/>
        </a:accent1>
        <a:accent2>
          <a:srgbClr val="3399FF"/>
        </a:accent2>
        <a:accent3>
          <a:srgbClr val="FFFFFF"/>
        </a:accent3>
        <a:accent4>
          <a:srgbClr val="000000"/>
        </a:accent4>
        <a:accent5>
          <a:srgbClr val="AAB8E2"/>
        </a:accent5>
        <a:accent6>
          <a:srgbClr val="2D8AE7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4809</Words>
  <Application>WPS Presentation</Application>
  <PresentationFormat>Widescreen</PresentationFormat>
  <Paragraphs>388</Paragraphs>
  <Slides>36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36</vt:i4>
      </vt:variant>
    </vt:vector>
  </HeadingPairs>
  <TitlesOfParts>
    <vt:vector size="48" baseType="lpstr">
      <vt:lpstr>Arial</vt:lpstr>
      <vt:lpstr>SimSun</vt:lpstr>
      <vt:lpstr>Wingdings</vt:lpstr>
      <vt:lpstr>Arial Rounded MT Bold</vt:lpstr>
      <vt:lpstr>Squada One</vt:lpstr>
      <vt:lpstr>Wide Latin</vt:lpstr>
      <vt:lpstr>Times New Roman</vt:lpstr>
      <vt:lpstr>Wingdings</vt:lpstr>
      <vt:lpstr>Microsoft YaHei</vt:lpstr>
      <vt:lpstr>Arial Unicode MS</vt:lpstr>
      <vt:lpstr>Calibri</vt:lpstr>
      <vt:lpstr>Blue Waves</vt:lpstr>
      <vt:lpstr>بِسْمِ اللهِ الرَّحْمٰنِ الرَّحِيْمِ</vt:lpstr>
      <vt:lpstr>“MCQ-Based Test System for Exam Preparation Using Python and Django”</vt:lpstr>
      <vt:lpstr>PowerPoint 演示文稿</vt:lpstr>
      <vt:lpstr>PowerPoint 演示文稿</vt:lpstr>
      <vt:lpstr>Functional Requirements</vt:lpstr>
      <vt:lpstr>Functional Requirements</vt:lpstr>
      <vt:lpstr>PowerPoint 演示文稿</vt:lpstr>
      <vt:lpstr>PowerPoint 演示文稿</vt:lpstr>
      <vt:lpstr>VU Process Model</vt:lpstr>
      <vt:lpstr>VU Process Model</vt:lpstr>
      <vt:lpstr>Gantt Chart</vt:lpstr>
      <vt:lpstr>PowerPoint 演示文稿</vt:lpstr>
      <vt:lpstr>Sequence Diagrams</vt:lpstr>
      <vt:lpstr>Sequence Diagrams</vt:lpstr>
      <vt:lpstr>Sequence Diagrams</vt:lpstr>
      <vt:lpstr>Sequence Diagrams</vt:lpstr>
      <vt:lpstr>Sequence Diagrams</vt:lpstr>
      <vt:lpstr>Sequence Diagrams</vt:lpstr>
      <vt:lpstr>Sequence Diagrams</vt:lpstr>
      <vt:lpstr>Sequence Diagrams</vt:lpstr>
      <vt:lpstr>Architecture Design Diagrams</vt:lpstr>
      <vt:lpstr>Class Diagram</vt:lpstr>
      <vt:lpstr>Database Diagram</vt:lpstr>
      <vt:lpstr>GUI Interface</vt:lpstr>
      <vt:lpstr>GUI Interface</vt:lpstr>
      <vt:lpstr>GUI Interface</vt:lpstr>
      <vt:lpstr>GUI Interface</vt:lpstr>
      <vt:lpstr>GUI Interface</vt:lpstr>
      <vt:lpstr>GUI Interface</vt:lpstr>
      <vt:lpstr>GUI Interface</vt:lpstr>
      <vt:lpstr>GUI Interface</vt:lpstr>
      <vt:lpstr>GUI Interface</vt:lpstr>
      <vt:lpstr>GUI Interface</vt:lpstr>
      <vt:lpstr>GUI Interface</vt:lpstr>
      <vt:lpstr>Development Phase</vt:lpstr>
      <vt:lpstr>Thanks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بِسْمِ اللهِ الرَّحْمٰنِ الرَّحِيْمِ</dc:title>
  <dc:creator>Cuty computer</dc:creator>
  <cp:lastModifiedBy>Emaan Murtaza</cp:lastModifiedBy>
  <cp:revision>55</cp:revision>
  <dcterms:created xsi:type="dcterms:W3CDTF">2025-05-11T10:20:00Z</dcterms:created>
  <dcterms:modified xsi:type="dcterms:W3CDTF">2025-07-07T08:33:34Z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612A08A1C5D945DCA43F442B05D2B166_11</vt:lpwstr>
  </property>
  <property fmtid="{D5CDD505-2E9C-101B-9397-08002B2CF9AE}" pid="3" name="KSOProductBuildVer">
    <vt:lpwstr>2057-12.2.0.21602</vt:lpwstr>
  </property>
</Properties>
</file>